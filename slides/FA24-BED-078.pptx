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Assalam-o-Alaikum everyone. Good morning, respected teacher and classmates. My name is Zainab Ashraf, and my registration number is FA24-BED-078. Today I am presenting my ECO346 assignment about education spending and literacy in rural Balochistan. I used PSLM household and person data. My main focus is education spending and differences in literacy between men and women. I used R for the analysis and Python to check the literacy results. Let me explain the main findings.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education spending in rural Balochistan. There are 1,464 students with positive spending and valid weights. The weighted 10th percentile is 600 rupees. The weighted median is 3,500 rupees, and the weighted 90th percentile is 18,700 rupees. The 90th percentile is about 5.34 times the median. This means education expenses vary a lot among students. We use a log scale because spending values can be very different. One eligible observation was outside the chart's displayed range. These are survey-weighted results from my R analysis.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literacy rates for men and women across age groups. The values are weighted using household survey weights. Among people aged 15 to 19, men's literacy is 63.81 percent and women's is 33.25 percent. Among ages 55 to 59, men have 39.75 percent literacy, while women have 3.45 percent. The largest gap is among ages 40 to 44. In this group, male literacy is 55.42 percent, female literacy is 7.50 percent, and the gap is 47.92 percentage points. These differences describe the survey data; they do not prove what caused the gap.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Question 4 is about making a graph easier to understand. The picture on the left is a simple sketch of a default-style point graph; the exact original default graph is saved in the GitHub repository. On the right, the redesigned graph connects weighted literacy rates, labels men and women directly, and highlights the largest gap. These changes make comparisons easier. Question 5 checks the results using Python. The Python age-band rates match the R results for all 22 age-and-gender groups to one decimal place. For women aged 15 to 19, both programs report 33.25 percent. In conclusion, spending differs widely, and literacy is higher for men in every observed age group. The next slide summarizes the findings. I will close with the main takeaways.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weighted median annual education spending is 3,500 rupees, and the 90th percentile is 18,700 rupees. This shows that spending varies a lot among students. The literacy results show a large gender gap, especially at ages 40 to 44, where the difference is 47.92 percentage points. My R and Python rates also match to one decimal place across all 22 age-and-gender groups. These are sample-based descriptive findings. Thank you for listening. I am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94360" y="594360"/>
            <a:ext cx="2377440" cy="384048"/>
          </a:xfrm>
          <a:prstGeom prst="roundRect">
            <a:avLst>
              <a:gd name="adj" fmla="val 18000"/>
            </a:avLst>
          </a:prstGeom>
          <a:solidFill>
            <a:srgbClr val="172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86384" y="667512"/>
            <a:ext cx="2011680" cy="210312"/>
          </a:xfrm>
          <a:prstGeom prst="rect">
            <a:avLst/>
          </a:prstGeom>
          <a:noFill/>
        </p:spPr>
        <p:txBody>
          <a:bodyPr wrap="square" lIns="0" rIns="0" tIns="0" bIns="0" anchor="ctr">
            <a:spAutoFit/>
          </a:bodyPr>
          <a:lstStyle/>
          <a:p>
            <a:pPr>
              <a:spcBef>
                <a:spcPts val="0"/>
              </a:spcBef>
              <a:spcAft>
                <a:spcPts val="0"/>
              </a:spcAft>
              <a:defRPr sz="1100" b="1">
                <a:solidFill>
                  <a:srgbClr val="83E0CE"/>
                </a:solidFill>
                <a:latin typeface="Aptos"/>
              </a:defRPr>
            </a:pPr>
            <a:r>
              <a:t>ECO346   /   ASSIGNMENT 01</a:t>
            </a:r>
          </a:p>
        </p:txBody>
      </p:sp>
      <p:sp>
        <p:nvSpPr>
          <p:cNvPr id="5" name="TextBox 4"/>
          <p:cNvSpPr txBox="1"/>
          <p:nvPr/>
        </p:nvSpPr>
        <p:spPr>
          <a:xfrm>
            <a:off x="594360" y="1325880"/>
            <a:ext cx="7269480" cy="1316736"/>
          </a:xfrm>
          <a:prstGeom prst="rect">
            <a:avLst/>
          </a:prstGeom>
          <a:noFill/>
        </p:spPr>
        <p:txBody>
          <a:bodyPr wrap="square" lIns="0" rIns="0" tIns="0" bIns="0" anchor="t">
            <a:spAutoFit/>
          </a:bodyPr>
          <a:lstStyle/>
          <a:p>
            <a:pPr>
              <a:spcBef>
                <a:spcPts val="0"/>
              </a:spcBef>
              <a:spcAft>
                <a:spcPts val="0"/>
              </a:spcAft>
              <a:defRPr sz="4000" b="1">
                <a:solidFill>
                  <a:srgbClr val="FFFFFF"/>
                </a:solidFill>
                <a:latin typeface="Aptos"/>
              </a:defRPr>
            </a:pPr>
            <a:r>
              <a:t>Education spending</a:t>
            </a:r>
          </a:p>
          <a:p>
            <a:pPr>
              <a:spcBef>
                <a:spcPts val="0"/>
              </a:spcBef>
              <a:spcAft>
                <a:spcPts val="0"/>
              </a:spcAft>
              <a:defRPr sz="4000" b="1">
                <a:solidFill>
                  <a:srgbClr val="FFFFFF"/>
                </a:solidFill>
                <a:latin typeface="Aptos"/>
              </a:defRPr>
            </a:pPr>
            <a:r>
              <a:t>&amp; literacy</a:t>
            </a:r>
          </a:p>
        </p:txBody>
      </p:sp>
      <p:sp>
        <p:nvSpPr>
          <p:cNvPr id="6" name="TextBox 5"/>
          <p:cNvSpPr txBox="1"/>
          <p:nvPr/>
        </p:nvSpPr>
        <p:spPr>
          <a:xfrm>
            <a:off x="603504" y="2852928"/>
            <a:ext cx="7040880" cy="576072"/>
          </a:xfrm>
          <a:prstGeom prst="rect">
            <a:avLst/>
          </a:prstGeom>
          <a:noFill/>
        </p:spPr>
        <p:txBody>
          <a:bodyPr wrap="square" lIns="0" rIns="0" tIns="0" bIns="0" anchor="t">
            <a:spAutoFit/>
          </a:bodyPr>
          <a:lstStyle/>
          <a:p>
            <a:pPr>
              <a:spcBef>
                <a:spcPts val="0"/>
              </a:spcBef>
              <a:spcAft>
                <a:spcPts val="0"/>
              </a:spcAft>
              <a:defRPr sz="1600" b="0">
                <a:solidFill>
                  <a:srgbClr val="C8D5E4"/>
                </a:solidFill>
                <a:latin typeface="Aptos"/>
              </a:defRPr>
            </a:pPr>
            <a:r>
              <a:t>An evidence-led look at rural Balochistan</a:t>
            </a:r>
          </a:p>
          <a:p>
            <a:pPr>
              <a:spcBef>
                <a:spcPts val="0"/>
              </a:spcBef>
              <a:spcAft>
                <a:spcPts val="0"/>
              </a:spcAft>
              <a:defRPr sz="1600" b="0">
                <a:solidFill>
                  <a:srgbClr val="C8D5E4"/>
                </a:solidFill>
                <a:latin typeface="Aptos"/>
              </a:defRPr>
            </a:pPr>
            <a:r>
              <a:t>PSLM household + person survey data</a:t>
            </a:r>
          </a:p>
        </p:txBody>
      </p:sp>
      <p:sp>
        <p:nvSpPr>
          <p:cNvPr id="7" name="Rectangle 6"/>
          <p:cNvSpPr/>
          <p:nvPr/>
        </p:nvSpPr>
        <p:spPr>
          <a:xfrm>
            <a:off x="594360" y="3858768"/>
            <a:ext cx="6309360" cy="13716"/>
          </a:xfrm>
          <a:prstGeom prst="rect">
            <a:avLst/>
          </a:prstGeom>
          <a:solidFill>
            <a:srgbClr val="3752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4087368"/>
            <a:ext cx="5852160" cy="246888"/>
          </a:xfrm>
          <a:prstGeom prst="rect">
            <a:avLst/>
          </a:prstGeom>
          <a:noFill/>
        </p:spPr>
        <p:txBody>
          <a:bodyPr wrap="square" lIns="0" rIns="0" tIns="0" bIns="0" anchor="ctr">
            <a:spAutoFit/>
          </a:bodyPr>
          <a:lstStyle/>
          <a:p>
            <a:pPr>
              <a:spcBef>
                <a:spcPts val="0"/>
              </a:spcBef>
              <a:spcAft>
                <a:spcPts val="0"/>
              </a:spcAft>
              <a:defRPr sz="1100" b="1">
                <a:solidFill>
                  <a:srgbClr val="83E0CE"/>
                </a:solidFill>
                <a:latin typeface="Aptos"/>
              </a:defRPr>
            </a:pPr>
            <a:r>
              <a:t>PRESENTED BY</a:t>
            </a:r>
          </a:p>
        </p:txBody>
      </p:sp>
      <p:sp>
        <p:nvSpPr>
          <p:cNvPr id="9" name="TextBox 8"/>
          <p:cNvSpPr txBox="1"/>
          <p:nvPr/>
        </p:nvSpPr>
        <p:spPr>
          <a:xfrm>
            <a:off x="594360" y="4443984"/>
            <a:ext cx="6263640" cy="438912"/>
          </a:xfrm>
          <a:prstGeom prst="rect">
            <a:avLst/>
          </a:prstGeom>
          <a:noFill/>
        </p:spPr>
        <p:txBody>
          <a:bodyPr wrap="square" lIns="0" rIns="0" tIns="0" bIns="0" anchor="ctr">
            <a:spAutoFit/>
          </a:bodyPr>
          <a:lstStyle/>
          <a:p>
            <a:pPr>
              <a:spcBef>
                <a:spcPts val="0"/>
              </a:spcBef>
              <a:spcAft>
                <a:spcPts val="0"/>
              </a:spcAft>
              <a:defRPr sz="2500" b="1">
                <a:solidFill>
                  <a:srgbClr val="FFFFFF"/>
                </a:solidFill>
                <a:latin typeface="Aptos"/>
              </a:defRPr>
            </a:pPr>
            <a:r>
              <a:t>Zainab Ashraf</a:t>
            </a:r>
          </a:p>
        </p:txBody>
      </p:sp>
      <p:sp>
        <p:nvSpPr>
          <p:cNvPr id="10" name="TextBox 9"/>
          <p:cNvSpPr txBox="1"/>
          <p:nvPr/>
        </p:nvSpPr>
        <p:spPr>
          <a:xfrm>
            <a:off x="594360" y="4992624"/>
            <a:ext cx="6309360" cy="265176"/>
          </a:xfrm>
          <a:prstGeom prst="rect">
            <a:avLst/>
          </a:prstGeom>
          <a:noFill/>
        </p:spPr>
        <p:txBody>
          <a:bodyPr wrap="square" lIns="0" rIns="0" tIns="0" bIns="0" anchor="ctr">
            <a:spAutoFit/>
          </a:bodyPr>
          <a:lstStyle/>
          <a:p>
            <a:pPr>
              <a:spcBef>
                <a:spcPts val="0"/>
              </a:spcBef>
              <a:spcAft>
                <a:spcPts val="0"/>
              </a:spcAft>
              <a:defRPr sz="1400" b="0">
                <a:solidFill>
                  <a:srgbClr val="C8D5E4"/>
                </a:solidFill>
                <a:latin typeface="Aptos"/>
              </a:defRPr>
            </a:pPr>
            <a:r>
              <a:t>Registration: FA24-BED-078   •   Variant 6</a:t>
            </a:r>
          </a:p>
        </p:txBody>
      </p:sp>
      <p:sp>
        <p:nvSpPr>
          <p:cNvPr id="11" name="Rounded Rectangle 10"/>
          <p:cNvSpPr/>
          <p:nvPr/>
        </p:nvSpPr>
        <p:spPr>
          <a:xfrm>
            <a:off x="7909560" y="1280160"/>
            <a:ext cx="3675887" cy="4206240"/>
          </a:xfrm>
          <a:prstGeom prst="roundRect">
            <a:avLst>
              <a:gd name="adj" fmla="val 13000"/>
            </a:avLst>
          </a:prstGeom>
          <a:solidFill>
            <a:srgbClr val="172641"/>
          </a:solidFill>
          <a:ln w="12700">
            <a:solidFill>
              <a:srgbClr val="3043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4736" y="1645920"/>
            <a:ext cx="3182112" cy="274320"/>
          </a:xfrm>
          <a:prstGeom prst="rect">
            <a:avLst/>
          </a:prstGeom>
          <a:noFill/>
        </p:spPr>
        <p:txBody>
          <a:bodyPr wrap="square" lIns="0" rIns="0" tIns="0" bIns="0" anchor="ctr">
            <a:spAutoFit/>
          </a:bodyPr>
          <a:lstStyle/>
          <a:p>
            <a:pPr>
              <a:spcBef>
                <a:spcPts val="0"/>
              </a:spcBef>
              <a:spcAft>
                <a:spcPts val="0"/>
              </a:spcAft>
              <a:defRPr sz="1100" b="1">
                <a:solidFill>
                  <a:srgbClr val="83E0CE"/>
                </a:solidFill>
                <a:latin typeface="Aptos"/>
              </a:defRPr>
            </a:pPr>
            <a:r>
              <a:t>LARGEST LITERACY GAP</a:t>
            </a:r>
          </a:p>
        </p:txBody>
      </p:sp>
      <p:sp>
        <p:nvSpPr>
          <p:cNvPr id="13" name="TextBox 12"/>
          <p:cNvSpPr txBox="1"/>
          <p:nvPr/>
        </p:nvSpPr>
        <p:spPr>
          <a:xfrm>
            <a:off x="8147304" y="2084831"/>
            <a:ext cx="3200400" cy="960120"/>
          </a:xfrm>
          <a:prstGeom prst="rect">
            <a:avLst/>
          </a:prstGeom>
          <a:noFill/>
        </p:spPr>
        <p:txBody>
          <a:bodyPr wrap="square" lIns="0" rIns="0" tIns="0" bIns="0" anchor="ctr">
            <a:spAutoFit/>
          </a:bodyPr>
          <a:lstStyle/>
          <a:p>
            <a:pPr>
              <a:spcBef>
                <a:spcPts val="0"/>
              </a:spcBef>
              <a:spcAft>
                <a:spcPts val="0"/>
              </a:spcAft>
              <a:defRPr sz="6200" b="1">
                <a:solidFill>
                  <a:srgbClr val="FFFFFF"/>
                </a:solidFill>
                <a:latin typeface="Aptos"/>
              </a:defRPr>
            </a:pPr>
            <a:r>
              <a:t>47.92</a:t>
            </a:r>
          </a:p>
        </p:txBody>
      </p:sp>
      <p:sp>
        <p:nvSpPr>
          <p:cNvPr id="14" name="TextBox 13"/>
          <p:cNvSpPr txBox="1"/>
          <p:nvPr/>
        </p:nvSpPr>
        <p:spPr>
          <a:xfrm>
            <a:off x="8229600" y="3008376"/>
            <a:ext cx="3063240" cy="283464"/>
          </a:xfrm>
          <a:prstGeom prst="rect">
            <a:avLst/>
          </a:prstGeom>
          <a:noFill/>
        </p:spPr>
        <p:txBody>
          <a:bodyPr wrap="square" lIns="0" rIns="0" tIns="0" bIns="0" anchor="ctr">
            <a:spAutoFit/>
          </a:bodyPr>
          <a:lstStyle/>
          <a:p>
            <a:pPr>
              <a:spcBef>
                <a:spcPts val="0"/>
              </a:spcBef>
              <a:spcAft>
                <a:spcPts val="0"/>
              </a:spcAft>
              <a:defRPr sz="1180" b="0">
                <a:solidFill>
                  <a:srgbClr val="B9CCDE"/>
                </a:solidFill>
                <a:latin typeface="Aptos"/>
              </a:defRPr>
            </a:pPr>
            <a:r>
              <a:t>percentage points  •  ages 40–44</a:t>
            </a:r>
          </a:p>
        </p:txBody>
      </p:sp>
      <p:sp>
        <p:nvSpPr>
          <p:cNvPr id="15" name="Rounded Rectangle 14"/>
          <p:cNvSpPr/>
          <p:nvPr/>
        </p:nvSpPr>
        <p:spPr>
          <a:xfrm>
            <a:off x="8220456" y="3657600"/>
            <a:ext cx="2971800" cy="91440"/>
          </a:xfrm>
          <a:prstGeom prst="roundRect">
            <a:avLst>
              <a:gd name="adj" fmla="val 7000"/>
            </a:avLst>
          </a:prstGeom>
          <a:solidFill>
            <a:srgbClr val="2A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0456" y="3657600"/>
            <a:ext cx="1645920" cy="91440"/>
          </a:xfrm>
          <a:prstGeom prst="roundRect">
            <a:avLst>
              <a:gd name="adj" fmla="val 7000"/>
            </a:avLst>
          </a:prstGeom>
          <a:solidFill>
            <a:srgbClr val="317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3959352"/>
            <a:ext cx="2286000" cy="320040"/>
          </a:xfrm>
          <a:prstGeom prst="rect">
            <a:avLst/>
          </a:prstGeom>
          <a:noFill/>
        </p:spPr>
        <p:txBody>
          <a:bodyPr wrap="square" lIns="0" rIns="0" tIns="0" bIns="0" anchor="ctr">
            <a:spAutoFit/>
          </a:bodyPr>
          <a:lstStyle/>
          <a:p>
            <a:pPr>
              <a:spcBef>
                <a:spcPts val="0"/>
              </a:spcBef>
              <a:spcAft>
                <a:spcPts val="0"/>
              </a:spcAft>
              <a:defRPr sz="1400" b="1">
                <a:solidFill>
                  <a:srgbClr val="8EC8F0"/>
                </a:solidFill>
                <a:latin typeface="Aptos"/>
              </a:defRPr>
            </a:pPr>
            <a:r>
              <a:t>Men    55.42%</a:t>
            </a:r>
          </a:p>
        </p:txBody>
      </p:sp>
      <p:sp>
        <p:nvSpPr>
          <p:cNvPr id="18" name="TextBox 17"/>
          <p:cNvSpPr txBox="1"/>
          <p:nvPr/>
        </p:nvSpPr>
        <p:spPr>
          <a:xfrm>
            <a:off x="8193024" y="4434840"/>
            <a:ext cx="2423160" cy="320040"/>
          </a:xfrm>
          <a:prstGeom prst="rect">
            <a:avLst/>
          </a:prstGeom>
          <a:noFill/>
        </p:spPr>
        <p:txBody>
          <a:bodyPr wrap="square" lIns="0" rIns="0" tIns="0" bIns="0" anchor="ctr">
            <a:spAutoFit/>
          </a:bodyPr>
          <a:lstStyle/>
          <a:p>
            <a:pPr>
              <a:spcBef>
                <a:spcPts val="0"/>
              </a:spcBef>
              <a:spcAft>
                <a:spcPts val="0"/>
              </a:spcAft>
              <a:defRPr sz="1400" b="1">
                <a:solidFill>
                  <a:srgbClr val="FF9AB0"/>
                </a:solidFill>
                <a:latin typeface="Aptos"/>
              </a:defRPr>
            </a:pPr>
            <a:r>
              <a:t>Women    7.50%</a:t>
            </a:r>
          </a:p>
        </p:txBody>
      </p:sp>
      <p:sp>
        <p:nvSpPr>
          <p:cNvPr id="19" name="Rectangle 18"/>
          <p:cNvSpPr/>
          <p:nvPr/>
        </p:nvSpPr>
        <p:spPr>
          <a:xfrm>
            <a:off x="0" y="6089904"/>
            <a:ext cx="12191695" cy="768096"/>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6245352"/>
            <a:ext cx="10881360" cy="365760"/>
          </a:xfrm>
          <a:prstGeom prst="rect">
            <a:avLst/>
          </a:prstGeom>
          <a:noFill/>
        </p:spPr>
        <p:txBody>
          <a:bodyPr wrap="square" lIns="0" rIns="0" tIns="0" bIns="0" anchor="ctr">
            <a:spAutoFit/>
          </a:bodyPr>
          <a:lstStyle/>
          <a:p>
            <a:pPr>
              <a:spcBef>
                <a:spcPts val="0"/>
              </a:spcBef>
              <a:spcAft>
                <a:spcPts val="0"/>
              </a:spcAft>
              <a:defRPr sz="1500" b="1">
                <a:solidFill>
                  <a:srgbClr val="111B31"/>
                </a:solidFill>
                <a:latin typeface="Aptos"/>
              </a:defRPr>
            </a:pPr>
            <a:r>
              <a:t>1,464 students with positive spending     •     Rs 3,500 weighted median     •     R &amp; Python agree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228600"/>
            <a:ext cx="4572000" cy="237744"/>
          </a:xfrm>
          <a:prstGeom prst="rect">
            <a:avLst/>
          </a:prstGeom>
          <a:noFill/>
        </p:spPr>
        <p:txBody>
          <a:bodyPr wrap="square" lIns="0" rIns="0" tIns="0" bIns="0" anchor="ctr">
            <a:spAutoFit/>
          </a:bodyPr>
          <a:lstStyle/>
          <a:p>
            <a:pPr>
              <a:spcBef>
                <a:spcPts val="0"/>
              </a:spcBef>
              <a:spcAft>
                <a:spcPts val="0"/>
              </a:spcAft>
              <a:defRPr sz="1000" b="1">
                <a:solidFill>
                  <a:srgbClr val="3174AD"/>
                </a:solidFill>
                <a:latin typeface="Aptos"/>
              </a:defRPr>
            </a:pPr>
            <a:r>
              <a:t>ECO346  /  ASSIGNMENT 01</a:t>
            </a:r>
          </a:p>
        </p:txBody>
      </p:sp>
      <p:sp>
        <p:nvSpPr>
          <p:cNvPr id="5" name="TextBox 4"/>
          <p:cNvSpPr txBox="1"/>
          <p:nvPr/>
        </p:nvSpPr>
        <p:spPr>
          <a:xfrm>
            <a:off x="566928" y="576072"/>
            <a:ext cx="10789920" cy="585216"/>
          </a:xfrm>
          <a:prstGeom prst="rect">
            <a:avLst/>
          </a:prstGeom>
          <a:noFill/>
        </p:spPr>
        <p:txBody>
          <a:bodyPr wrap="square" lIns="0" rIns="0" tIns="0" bIns="0" anchor="ctr">
            <a:spAutoFit/>
          </a:bodyPr>
          <a:lstStyle/>
          <a:p>
            <a:pPr>
              <a:spcBef>
                <a:spcPts val="0"/>
              </a:spcBef>
              <a:spcAft>
                <a:spcPts val="0"/>
              </a:spcAft>
              <a:defRPr sz="2800" b="1">
                <a:solidFill>
                  <a:srgbClr val="142039"/>
                </a:solidFill>
                <a:latin typeface="Aptos"/>
              </a:defRPr>
            </a:pPr>
            <a:r>
              <a:t>How much do students spend on education?</a:t>
            </a:r>
          </a:p>
        </p:txBody>
      </p:sp>
      <p:sp>
        <p:nvSpPr>
          <p:cNvPr id="6" name="TextBox 5"/>
          <p:cNvSpPr txBox="1"/>
          <p:nvPr/>
        </p:nvSpPr>
        <p:spPr>
          <a:xfrm>
            <a:off x="585216" y="1188720"/>
            <a:ext cx="9144000" cy="274320"/>
          </a:xfrm>
          <a:prstGeom prst="rect">
            <a:avLst/>
          </a:prstGeom>
          <a:noFill/>
        </p:spPr>
        <p:txBody>
          <a:bodyPr wrap="square" lIns="0" rIns="0" tIns="0" bIns="0" anchor="ctr">
            <a:spAutoFit/>
          </a:bodyPr>
          <a:lstStyle/>
          <a:p>
            <a:pPr>
              <a:spcBef>
                <a:spcPts val="0"/>
              </a:spcBef>
              <a:spcAft>
                <a:spcPts val="0"/>
              </a:spcAft>
              <a:defRPr sz="1050" b="1">
                <a:solidFill>
                  <a:srgbClr val="68768C"/>
                </a:solidFill>
                <a:latin typeface="Aptos"/>
              </a:defRPr>
            </a:pPr>
            <a:r>
              <a:t>QUESTION 2  •  WEIGHTED ANNUAL EXPENDITURE</a:t>
            </a:r>
          </a:p>
        </p:txBody>
      </p:sp>
      <p:sp>
        <p:nvSpPr>
          <p:cNvPr id="7" name="Rectangle 6"/>
          <p:cNvSpPr/>
          <p:nvPr/>
        </p:nvSpPr>
        <p:spPr>
          <a:xfrm>
            <a:off x="585216" y="6464808"/>
            <a:ext cx="11018520"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6528816"/>
            <a:ext cx="6400800" cy="182880"/>
          </a:xfrm>
          <a:prstGeom prst="rect">
            <a:avLst/>
          </a:prstGeom>
          <a:noFill/>
        </p:spPr>
        <p:txBody>
          <a:bodyPr wrap="square" lIns="0" rIns="0" tIns="0" bIns="0" anchor="ctr">
            <a:spAutoFit/>
          </a:bodyPr>
          <a:lstStyle/>
          <a:p>
            <a:pPr>
              <a:spcBef>
                <a:spcPts val="0"/>
              </a:spcBef>
              <a:spcAft>
                <a:spcPts val="0"/>
              </a:spcAft>
              <a:defRPr sz="819" b="1">
                <a:solidFill>
                  <a:srgbClr val="68768C"/>
                </a:solidFill>
                <a:latin typeface="Aptos"/>
              </a:defRPr>
            </a:pPr>
            <a:r>
              <a:t>ZAINAB ASHRAF    •    FA24-BED-078    •    VARIANT 06</a:t>
            </a:r>
          </a:p>
        </p:txBody>
      </p:sp>
      <p:sp>
        <p:nvSpPr>
          <p:cNvPr id="9" name="TextBox 8"/>
          <p:cNvSpPr txBox="1"/>
          <p:nvPr/>
        </p:nvSpPr>
        <p:spPr>
          <a:xfrm>
            <a:off x="11018520" y="6510528"/>
            <a:ext cx="493776" cy="210312"/>
          </a:xfrm>
          <a:prstGeom prst="rect">
            <a:avLst/>
          </a:prstGeom>
          <a:noFill/>
        </p:spPr>
        <p:txBody>
          <a:bodyPr wrap="square" lIns="0" rIns="0" tIns="0" bIns="0" anchor="ctr">
            <a:spAutoFit/>
          </a:bodyPr>
          <a:lstStyle/>
          <a:p>
            <a:pPr algn="r">
              <a:spcBef>
                <a:spcPts val="0"/>
              </a:spcBef>
              <a:spcAft>
                <a:spcPts val="0"/>
              </a:spcAft>
              <a:defRPr sz="900" b="1">
                <a:solidFill>
                  <a:srgbClr val="68768C"/>
                </a:solidFill>
                <a:latin typeface="Aptos"/>
              </a:defRPr>
            </a:pPr>
            <a:r>
              <a:t>02 / 05</a:t>
            </a:r>
          </a:p>
        </p:txBody>
      </p:sp>
      <p:sp>
        <p:nvSpPr>
          <p:cNvPr id="10" name="Rounded Rectangle 9"/>
          <p:cNvSpPr/>
          <p:nvPr/>
        </p:nvSpPr>
        <p:spPr>
          <a:xfrm>
            <a:off x="566928" y="1627632"/>
            <a:ext cx="2761488" cy="996696"/>
          </a:xfrm>
          <a:prstGeom prst="roundRect">
            <a:avLst>
              <a:gd name="adj" fmla="val 15000"/>
            </a:avLst>
          </a:prstGeom>
          <a:solidFill>
            <a:srgbClr val="FFFFFF"/>
          </a:solidFill>
          <a:ln w="8890">
            <a:solidFill>
              <a:srgbClr val="E6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4944" y="1792224"/>
            <a:ext cx="59436" cy="667512"/>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773936"/>
            <a:ext cx="2322576" cy="201168"/>
          </a:xfrm>
          <a:prstGeom prst="rect">
            <a:avLst/>
          </a:prstGeom>
          <a:noFill/>
        </p:spPr>
        <p:txBody>
          <a:bodyPr wrap="square" lIns="0" rIns="0" tIns="0" bIns="0" anchor="ctr">
            <a:spAutoFit/>
          </a:bodyPr>
          <a:lstStyle/>
          <a:p>
            <a:pPr>
              <a:spcBef>
                <a:spcPts val="0"/>
              </a:spcBef>
              <a:spcAft>
                <a:spcPts val="0"/>
              </a:spcAft>
              <a:defRPr sz="1000" b="1">
                <a:solidFill>
                  <a:srgbClr val="68768C"/>
                </a:solidFill>
                <a:latin typeface="Aptos"/>
              </a:defRPr>
            </a:pPr>
            <a:r>
              <a:t>WEIGHTED P10</a:t>
            </a:r>
          </a:p>
        </p:txBody>
      </p:sp>
      <p:sp>
        <p:nvSpPr>
          <p:cNvPr id="13" name="TextBox 12"/>
          <p:cNvSpPr txBox="1"/>
          <p:nvPr/>
        </p:nvSpPr>
        <p:spPr>
          <a:xfrm>
            <a:off x="868680" y="1993392"/>
            <a:ext cx="2350008" cy="429768"/>
          </a:xfrm>
          <a:prstGeom prst="rect">
            <a:avLst/>
          </a:prstGeom>
          <a:noFill/>
        </p:spPr>
        <p:txBody>
          <a:bodyPr wrap="square" lIns="0" rIns="0" tIns="0" bIns="0" anchor="ctr">
            <a:spAutoFit/>
          </a:bodyPr>
          <a:lstStyle/>
          <a:p>
            <a:pPr>
              <a:spcBef>
                <a:spcPts val="0"/>
              </a:spcBef>
              <a:spcAft>
                <a:spcPts val="0"/>
              </a:spcAft>
              <a:defRPr sz="2200" b="1">
                <a:solidFill>
                  <a:srgbClr val="142039"/>
                </a:solidFill>
                <a:latin typeface="Aptos"/>
              </a:defRPr>
            </a:pPr>
            <a:r>
              <a:t>Rs 600</a:t>
            </a:r>
          </a:p>
        </p:txBody>
      </p:sp>
      <p:sp>
        <p:nvSpPr>
          <p:cNvPr id="14" name="Rounded Rectangle 13"/>
          <p:cNvSpPr/>
          <p:nvPr/>
        </p:nvSpPr>
        <p:spPr>
          <a:xfrm>
            <a:off x="3465576" y="1627632"/>
            <a:ext cx="2761488" cy="996696"/>
          </a:xfrm>
          <a:prstGeom prst="roundRect">
            <a:avLst>
              <a:gd name="adj" fmla="val 15000"/>
            </a:avLst>
          </a:prstGeom>
          <a:solidFill>
            <a:srgbClr val="FFFFFF"/>
          </a:solidFill>
          <a:ln w="8890">
            <a:solidFill>
              <a:srgbClr val="E6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93592" y="1792224"/>
            <a:ext cx="59436" cy="667512"/>
          </a:xfrm>
          <a:prstGeom prst="rect">
            <a:avLst/>
          </a:prstGeom>
          <a:solidFill>
            <a:srgbClr val="317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67328" y="1773936"/>
            <a:ext cx="2322576" cy="201168"/>
          </a:xfrm>
          <a:prstGeom prst="rect">
            <a:avLst/>
          </a:prstGeom>
          <a:noFill/>
        </p:spPr>
        <p:txBody>
          <a:bodyPr wrap="square" lIns="0" rIns="0" tIns="0" bIns="0" anchor="ctr">
            <a:spAutoFit/>
          </a:bodyPr>
          <a:lstStyle/>
          <a:p>
            <a:pPr>
              <a:spcBef>
                <a:spcPts val="0"/>
              </a:spcBef>
              <a:spcAft>
                <a:spcPts val="0"/>
              </a:spcAft>
              <a:defRPr sz="1000" b="1">
                <a:solidFill>
                  <a:srgbClr val="68768C"/>
                </a:solidFill>
                <a:latin typeface="Aptos"/>
              </a:defRPr>
            </a:pPr>
            <a:r>
              <a:t>WEIGHTED MEDIAN</a:t>
            </a:r>
          </a:p>
        </p:txBody>
      </p:sp>
      <p:sp>
        <p:nvSpPr>
          <p:cNvPr id="17" name="TextBox 16"/>
          <p:cNvSpPr txBox="1"/>
          <p:nvPr/>
        </p:nvSpPr>
        <p:spPr>
          <a:xfrm>
            <a:off x="3767328" y="1993392"/>
            <a:ext cx="2350008" cy="429768"/>
          </a:xfrm>
          <a:prstGeom prst="rect">
            <a:avLst/>
          </a:prstGeom>
          <a:noFill/>
        </p:spPr>
        <p:txBody>
          <a:bodyPr wrap="square" lIns="0" rIns="0" tIns="0" bIns="0" anchor="ctr">
            <a:spAutoFit/>
          </a:bodyPr>
          <a:lstStyle/>
          <a:p>
            <a:pPr>
              <a:spcBef>
                <a:spcPts val="0"/>
              </a:spcBef>
              <a:spcAft>
                <a:spcPts val="0"/>
              </a:spcAft>
              <a:defRPr sz="2200" b="1">
                <a:solidFill>
                  <a:srgbClr val="142039"/>
                </a:solidFill>
                <a:latin typeface="Aptos"/>
              </a:defRPr>
            </a:pPr>
            <a:r>
              <a:t>Rs 3,500</a:t>
            </a:r>
          </a:p>
        </p:txBody>
      </p:sp>
      <p:sp>
        <p:nvSpPr>
          <p:cNvPr id="18" name="Rounded Rectangle 17"/>
          <p:cNvSpPr/>
          <p:nvPr/>
        </p:nvSpPr>
        <p:spPr>
          <a:xfrm>
            <a:off x="6364224" y="1627632"/>
            <a:ext cx="2761488" cy="996696"/>
          </a:xfrm>
          <a:prstGeom prst="roundRect">
            <a:avLst>
              <a:gd name="adj" fmla="val 15000"/>
            </a:avLst>
          </a:prstGeom>
          <a:solidFill>
            <a:srgbClr val="FFFFFF"/>
          </a:solidFill>
          <a:ln w="8890">
            <a:solidFill>
              <a:srgbClr val="E6ED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92240" y="1792224"/>
            <a:ext cx="59436" cy="667512"/>
          </a:xfrm>
          <a:prstGeom prst="rect">
            <a:avLst/>
          </a:prstGeom>
          <a:solidFill>
            <a:srgbClr val="D85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65976" y="1773936"/>
            <a:ext cx="2322576" cy="201168"/>
          </a:xfrm>
          <a:prstGeom prst="rect">
            <a:avLst/>
          </a:prstGeom>
          <a:noFill/>
        </p:spPr>
        <p:txBody>
          <a:bodyPr wrap="square" lIns="0" rIns="0" tIns="0" bIns="0" anchor="ctr">
            <a:spAutoFit/>
          </a:bodyPr>
          <a:lstStyle/>
          <a:p>
            <a:pPr>
              <a:spcBef>
                <a:spcPts val="0"/>
              </a:spcBef>
              <a:spcAft>
                <a:spcPts val="0"/>
              </a:spcAft>
              <a:defRPr sz="1000" b="1">
                <a:solidFill>
                  <a:srgbClr val="68768C"/>
                </a:solidFill>
                <a:latin typeface="Aptos"/>
              </a:defRPr>
            </a:pPr>
            <a:r>
              <a:t>WEIGHTED P90</a:t>
            </a:r>
          </a:p>
        </p:txBody>
      </p:sp>
      <p:sp>
        <p:nvSpPr>
          <p:cNvPr id="21" name="TextBox 20"/>
          <p:cNvSpPr txBox="1"/>
          <p:nvPr/>
        </p:nvSpPr>
        <p:spPr>
          <a:xfrm>
            <a:off x="6665976" y="1993392"/>
            <a:ext cx="2350008" cy="429768"/>
          </a:xfrm>
          <a:prstGeom prst="rect">
            <a:avLst/>
          </a:prstGeom>
          <a:noFill/>
        </p:spPr>
        <p:txBody>
          <a:bodyPr wrap="square" lIns="0" rIns="0" tIns="0" bIns="0" anchor="ctr">
            <a:spAutoFit/>
          </a:bodyPr>
          <a:lstStyle/>
          <a:p>
            <a:pPr>
              <a:spcBef>
                <a:spcPts val="0"/>
              </a:spcBef>
              <a:spcAft>
                <a:spcPts val="0"/>
              </a:spcAft>
              <a:defRPr sz="2200" b="1">
                <a:solidFill>
                  <a:srgbClr val="142039"/>
                </a:solidFill>
                <a:latin typeface="Aptos"/>
              </a:defRPr>
            </a:pPr>
            <a:r>
              <a:t>Rs 18,700</a:t>
            </a:r>
          </a:p>
        </p:txBody>
      </p:sp>
      <p:sp>
        <p:nvSpPr>
          <p:cNvPr id="22" name="Rounded Rectangle 21"/>
          <p:cNvSpPr/>
          <p:nvPr/>
        </p:nvSpPr>
        <p:spPr>
          <a:xfrm>
            <a:off x="9290304" y="1627632"/>
            <a:ext cx="2313432" cy="996696"/>
          </a:xfrm>
          <a:prstGeom prst="roundRect">
            <a:avLst>
              <a:gd name="adj" fmla="val 15000"/>
            </a:avLst>
          </a:prstGeom>
          <a:solidFill>
            <a:srgbClr val="E5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1755648"/>
            <a:ext cx="1901952" cy="210312"/>
          </a:xfrm>
          <a:prstGeom prst="rect">
            <a:avLst/>
          </a:prstGeom>
          <a:noFill/>
        </p:spPr>
        <p:txBody>
          <a:bodyPr wrap="square" lIns="0" rIns="0" tIns="0" bIns="0" anchor="ctr">
            <a:spAutoFit/>
          </a:bodyPr>
          <a:lstStyle/>
          <a:p>
            <a:pPr>
              <a:spcBef>
                <a:spcPts val="0"/>
              </a:spcBef>
              <a:spcAft>
                <a:spcPts val="0"/>
              </a:spcAft>
              <a:defRPr sz="1000" b="1">
                <a:solidFill>
                  <a:srgbClr val="336C66"/>
                </a:solidFill>
                <a:latin typeface="Aptos"/>
              </a:defRPr>
            </a:pPr>
            <a:r>
              <a:t>STUDENTS</a:t>
            </a:r>
          </a:p>
        </p:txBody>
      </p:sp>
      <p:sp>
        <p:nvSpPr>
          <p:cNvPr id="24" name="TextBox 23"/>
          <p:cNvSpPr txBox="1"/>
          <p:nvPr/>
        </p:nvSpPr>
        <p:spPr>
          <a:xfrm>
            <a:off x="9509760" y="1984248"/>
            <a:ext cx="1901952" cy="420624"/>
          </a:xfrm>
          <a:prstGeom prst="rect">
            <a:avLst/>
          </a:prstGeom>
          <a:noFill/>
        </p:spPr>
        <p:txBody>
          <a:bodyPr wrap="square" lIns="0" rIns="0" tIns="0" bIns="0" anchor="ctr">
            <a:spAutoFit/>
          </a:bodyPr>
          <a:lstStyle/>
          <a:p>
            <a:pPr>
              <a:spcBef>
                <a:spcPts val="0"/>
              </a:spcBef>
              <a:spcAft>
                <a:spcPts val="0"/>
              </a:spcAft>
              <a:defRPr sz="2300" b="1">
                <a:solidFill>
                  <a:srgbClr val="142039"/>
                </a:solidFill>
                <a:latin typeface="Aptos"/>
              </a:defRPr>
            </a:pPr>
            <a:r>
              <a:t>1,464</a:t>
            </a:r>
          </a:p>
        </p:txBody>
      </p:sp>
      <p:sp>
        <p:nvSpPr>
          <p:cNvPr id="25" name="Rounded Rectangle 24"/>
          <p:cNvSpPr/>
          <p:nvPr/>
        </p:nvSpPr>
        <p:spPr>
          <a:xfrm>
            <a:off x="566928" y="2798064"/>
            <a:ext cx="7443216" cy="3456432"/>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q2_hist.png"/>
          <p:cNvPicPr>
            <a:picLocks noChangeAspect="1"/>
          </p:cNvPicPr>
          <p:nvPr/>
        </p:nvPicPr>
        <p:blipFill>
          <a:blip r:embed="rId2"/>
          <a:stretch>
            <a:fillRect/>
          </a:stretch>
        </p:blipFill>
        <p:spPr>
          <a:xfrm>
            <a:off x="1125063" y="2980944"/>
            <a:ext cx="6400096" cy="3081528"/>
          </a:xfrm>
          <a:prstGeom prst="rect">
            <a:avLst/>
          </a:prstGeom>
        </p:spPr>
      </p:pic>
      <p:sp>
        <p:nvSpPr>
          <p:cNvPr id="27" name="Rounded Rectangle 26"/>
          <p:cNvSpPr/>
          <p:nvPr/>
        </p:nvSpPr>
        <p:spPr>
          <a:xfrm>
            <a:off x="8202168" y="2798064"/>
            <a:ext cx="3401568" cy="3456432"/>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3063240"/>
            <a:ext cx="2852928" cy="320040"/>
          </a:xfrm>
          <a:prstGeom prst="rect">
            <a:avLst/>
          </a:prstGeom>
          <a:noFill/>
        </p:spPr>
        <p:txBody>
          <a:bodyPr wrap="square" lIns="0" rIns="0" tIns="0" bIns="0" anchor="ctr">
            <a:spAutoFit/>
          </a:bodyPr>
          <a:lstStyle/>
          <a:p>
            <a:pPr>
              <a:spcBef>
                <a:spcPts val="0"/>
              </a:spcBef>
              <a:spcAft>
                <a:spcPts val="0"/>
              </a:spcAft>
              <a:defRPr sz="1300" b="1">
                <a:solidFill>
                  <a:srgbClr val="142039"/>
                </a:solidFill>
                <a:latin typeface="Aptos"/>
              </a:defRPr>
            </a:pPr>
            <a:r>
              <a:t>WHAT THIS TELLS US</a:t>
            </a:r>
          </a:p>
        </p:txBody>
      </p:sp>
      <p:sp>
        <p:nvSpPr>
          <p:cNvPr id="29" name="Rectangle 28"/>
          <p:cNvSpPr/>
          <p:nvPr/>
        </p:nvSpPr>
        <p:spPr>
          <a:xfrm>
            <a:off x="8430768" y="3547872"/>
            <a:ext cx="73152" cy="786384"/>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13648" y="3520440"/>
            <a:ext cx="2670048" cy="877824"/>
          </a:xfrm>
          <a:prstGeom prst="rect">
            <a:avLst/>
          </a:prstGeom>
          <a:noFill/>
        </p:spPr>
        <p:txBody>
          <a:bodyPr wrap="square" lIns="0" rIns="0" tIns="0" bIns="0" anchor="ctr">
            <a:spAutoFit/>
          </a:bodyPr>
          <a:lstStyle/>
          <a:p>
            <a:pPr>
              <a:spcBef>
                <a:spcPts val="0"/>
              </a:spcBef>
              <a:spcAft>
                <a:spcPts val="0"/>
              </a:spcAft>
              <a:defRPr sz="1800" b="1">
                <a:solidFill>
                  <a:srgbClr val="3174AD"/>
                </a:solidFill>
                <a:latin typeface="Aptos"/>
              </a:defRPr>
            </a:pPr>
            <a:r>
              <a:t>P90 is 5.34× the median.</a:t>
            </a:r>
          </a:p>
        </p:txBody>
      </p:sp>
      <p:sp>
        <p:nvSpPr>
          <p:cNvPr id="31" name="TextBox 30"/>
          <p:cNvSpPr txBox="1"/>
          <p:nvPr/>
        </p:nvSpPr>
        <p:spPr>
          <a:xfrm>
            <a:off x="8430768" y="4654296"/>
            <a:ext cx="2862072" cy="987552"/>
          </a:xfrm>
          <a:prstGeom prst="rect">
            <a:avLst/>
          </a:prstGeom>
          <a:noFill/>
        </p:spPr>
        <p:txBody>
          <a:bodyPr wrap="square" lIns="0" rIns="0" tIns="0" bIns="0" anchor="t">
            <a:spAutoFit/>
          </a:bodyPr>
          <a:lstStyle/>
          <a:p>
            <a:pPr>
              <a:spcBef>
                <a:spcPts val="0"/>
              </a:spcBef>
              <a:spcAft>
                <a:spcPts val="0"/>
              </a:spcAft>
              <a:defRPr sz="1200" b="0">
                <a:solidFill>
                  <a:srgbClr val="68768C"/>
                </a:solidFill>
                <a:latin typeface="Aptos"/>
              </a:defRPr>
            </a:pPr>
            <a:r>
              <a:t>Spending differs a lot across students. The graph uses a log scale so both lower and higher spending are easier to see.</a:t>
            </a:r>
          </a:p>
        </p:txBody>
      </p:sp>
      <p:sp>
        <p:nvSpPr>
          <p:cNvPr id="32" name="TextBox 31"/>
          <p:cNvSpPr txBox="1"/>
          <p:nvPr/>
        </p:nvSpPr>
        <p:spPr>
          <a:xfrm>
            <a:off x="8430768" y="5733288"/>
            <a:ext cx="2926080" cy="274320"/>
          </a:xfrm>
          <a:prstGeom prst="rect">
            <a:avLst/>
          </a:prstGeom>
          <a:noFill/>
        </p:spPr>
        <p:txBody>
          <a:bodyPr wrap="square" lIns="0" rIns="0" tIns="0" bIns="0" anchor="ctr">
            <a:spAutoFit/>
          </a:bodyPr>
          <a:lstStyle/>
          <a:p>
            <a:pPr>
              <a:spcBef>
                <a:spcPts val="0"/>
              </a:spcBef>
              <a:spcAft>
                <a:spcPts val="0"/>
              </a:spcAft>
              <a:defRPr sz="1000" b="1">
                <a:solidFill>
                  <a:srgbClr val="7B8798"/>
                </a:solidFill>
                <a:latin typeface="Aptos"/>
              </a:defRPr>
            </a:pPr>
            <a:r>
              <a:t>1 observation outside chart range.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228600"/>
            <a:ext cx="4572000" cy="237744"/>
          </a:xfrm>
          <a:prstGeom prst="rect">
            <a:avLst/>
          </a:prstGeom>
          <a:noFill/>
        </p:spPr>
        <p:txBody>
          <a:bodyPr wrap="square" lIns="0" rIns="0" tIns="0" bIns="0" anchor="ctr">
            <a:spAutoFit/>
          </a:bodyPr>
          <a:lstStyle/>
          <a:p>
            <a:pPr>
              <a:spcBef>
                <a:spcPts val="0"/>
              </a:spcBef>
              <a:spcAft>
                <a:spcPts val="0"/>
              </a:spcAft>
              <a:defRPr sz="1000" b="1">
                <a:solidFill>
                  <a:srgbClr val="3174AD"/>
                </a:solidFill>
                <a:latin typeface="Aptos"/>
              </a:defRPr>
            </a:pPr>
            <a:r>
              <a:t>ECO346  /  ASSIGNMENT 01</a:t>
            </a:r>
          </a:p>
        </p:txBody>
      </p:sp>
      <p:sp>
        <p:nvSpPr>
          <p:cNvPr id="5" name="TextBox 4"/>
          <p:cNvSpPr txBox="1"/>
          <p:nvPr/>
        </p:nvSpPr>
        <p:spPr>
          <a:xfrm>
            <a:off x="566928" y="576072"/>
            <a:ext cx="10789920" cy="585216"/>
          </a:xfrm>
          <a:prstGeom prst="rect">
            <a:avLst/>
          </a:prstGeom>
          <a:noFill/>
        </p:spPr>
        <p:txBody>
          <a:bodyPr wrap="square" lIns="0" rIns="0" tIns="0" bIns="0" anchor="ctr">
            <a:spAutoFit/>
          </a:bodyPr>
          <a:lstStyle/>
          <a:p>
            <a:pPr>
              <a:spcBef>
                <a:spcPts val="0"/>
              </a:spcBef>
              <a:spcAft>
                <a:spcPts val="0"/>
              </a:spcAft>
              <a:defRPr sz="2800" b="1">
                <a:solidFill>
                  <a:srgbClr val="142039"/>
                </a:solidFill>
                <a:latin typeface="Aptos"/>
              </a:defRPr>
            </a:pPr>
            <a:r>
              <a:t>The literacy gap differs across age groups</a:t>
            </a:r>
          </a:p>
        </p:txBody>
      </p:sp>
      <p:sp>
        <p:nvSpPr>
          <p:cNvPr id="6" name="TextBox 5"/>
          <p:cNvSpPr txBox="1"/>
          <p:nvPr/>
        </p:nvSpPr>
        <p:spPr>
          <a:xfrm>
            <a:off x="585216" y="1188720"/>
            <a:ext cx="9144000" cy="274320"/>
          </a:xfrm>
          <a:prstGeom prst="rect">
            <a:avLst/>
          </a:prstGeom>
          <a:noFill/>
        </p:spPr>
        <p:txBody>
          <a:bodyPr wrap="square" lIns="0" rIns="0" tIns="0" bIns="0" anchor="ctr">
            <a:spAutoFit/>
          </a:bodyPr>
          <a:lstStyle/>
          <a:p>
            <a:pPr>
              <a:spcBef>
                <a:spcPts val="0"/>
              </a:spcBef>
              <a:spcAft>
                <a:spcPts val="0"/>
              </a:spcAft>
              <a:defRPr sz="1050" b="1">
                <a:solidFill>
                  <a:srgbClr val="68768C"/>
                </a:solidFill>
                <a:latin typeface="Aptos"/>
              </a:defRPr>
            </a:pPr>
            <a:r>
              <a:t>QUESTION 3  •  WEIGHTED LITERACY RATES (%)</a:t>
            </a:r>
          </a:p>
        </p:txBody>
      </p:sp>
      <p:sp>
        <p:nvSpPr>
          <p:cNvPr id="7" name="Rectangle 6"/>
          <p:cNvSpPr/>
          <p:nvPr/>
        </p:nvSpPr>
        <p:spPr>
          <a:xfrm>
            <a:off x="585216" y="6464808"/>
            <a:ext cx="11018520"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6528816"/>
            <a:ext cx="6400800" cy="182880"/>
          </a:xfrm>
          <a:prstGeom prst="rect">
            <a:avLst/>
          </a:prstGeom>
          <a:noFill/>
        </p:spPr>
        <p:txBody>
          <a:bodyPr wrap="square" lIns="0" rIns="0" tIns="0" bIns="0" anchor="ctr">
            <a:spAutoFit/>
          </a:bodyPr>
          <a:lstStyle/>
          <a:p>
            <a:pPr>
              <a:spcBef>
                <a:spcPts val="0"/>
              </a:spcBef>
              <a:spcAft>
                <a:spcPts val="0"/>
              </a:spcAft>
              <a:defRPr sz="819" b="1">
                <a:solidFill>
                  <a:srgbClr val="68768C"/>
                </a:solidFill>
                <a:latin typeface="Aptos"/>
              </a:defRPr>
            </a:pPr>
            <a:r>
              <a:t>ZAINAB ASHRAF    •    FA24-BED-078    •    VARIANT 06</a:t>
            </a:r>
          </a:p>
        </p:txBody>
      </p:sp>
      <p:sp>
        <p:nvSpPr>
          <p:cNvPr id="9" name="TextBox 8"/>
          <p:cNvSpPr txBox="1"/>
          <p:nvPr/>
        </p:nvSpPr>
        <p:spPr>
          <a:xfrm>
            <a:off x="11018520" y="6510528"/>
            <a:ext cx="493776" cy="210312"/>
          </a:xfrm>
          <a:prstGeom prst="rect">
            <a:avLst/>
          </a:prstGeom>
          <a:noFill/>
        </p:spPr>
        <p:txBody>
          <a:bodyPr wrap="square" lIns="0" rIns="0" tIns="0" bIns="0" anchor="ctr">
            <a:spAutoFit/>
          </a:bodyPr>
          <a:lstStyle/>
          <a:p>
            <a:pPr algn="r">
              <a:spcBef>
                <a:spcPts val="0"/>
              </a:spcBef>
              <a:spcAft>
                <a:spcPts val="0"/>
              </a:spcAft>
              <a:defRPr sz="900" b="1">
                <a:solidFill>
                  <a:srgbClr val="68768C"/>
                </a:solidFill>
                <a:latin typeface="Aptos"/>
              </a:defRPr>
            </a:pPr>
            <a:r>
              <a:t>03 / 05</a:t>
            </a:r>
          </a:p>
        </p:txBody>
      </p:sp>
      <p:sp>
        <p:nvSpPr>
          <p:cNvPr id="10" name="Rounded Rectangle 9"/>
          <p:cNvSpPr/>
          <p:nvPr/>
        </p:nvSpPr>
        <p:spPr>
          <a:xfrm>
            <a:off x="566928" y="1627632"/>
            <a:ext cx="7498079" cy="4553712"/>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q3_literacy.png"/>
          <p:cNvPicPr>
            <a:picLocks noChangeAspect="1"/>
          </p:cNvPicPr>
          <p:nvPr/>
        </p:nvPicPr>
        <p:blipFill>
          <a:blip r:embed="rId2"/>
          <a:stretch>
            <a:fillRect/>
          </a:stretch>
        </p:blipFill>
        <p:spPr>
          <a:xfrm>
            <a:off x="832104" y="1986511"/>
            <a:ext cx="7132320" cy="3808520"/>
          </a:xfrm>
          <a:prstGeom prst="rect">
            <a:avLst/>
          </a:prstGeom>
        </p:spPr>
      </p:pic>
      <p:sp>
        <p:nvSpPr>
          <p:cNvPr id="12" name="Rounded Rectangle 11"/>
          <p:cNvSpPr/>
          <p:nvPr/>
        </p:nvSpPr>
        <p:spPr>
          <a:xfrm>
            <a:off x="8257031" y="1627632"/>
            <a:ext cx="3346704" cy="4553712"/>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76488" y="1901952"/>
            <a:ext cx="2743200" cy="347472"/>
          </a:xfrm>
          <a:prstGeom prst="rect">
            <a:avLst/>
          </a:prstGeom>
          <a:noFill/>
        </p:spPr>
        <p:txBody>
          <a:bodyPr wrap="square" lIns="0" rIns="0" tIns="0" bIns="0" anchor="ctr">
            <a:spAutoFit/>
          </a:bodyPr>
          <a:lstStyle/>
          <a:p>
            <a:pPr>
              <a:spcBef>
                <a:spcPts val="0"/>
              </a:spcBef>
              <a:spcAft>
                <a:spcPts val="0"/>
              </a:spcAft>
              <a:defRPr sz="1300" b="1">
                <a:solidFill>
                  <a:srgbClr val="142039"/>
                </a:solidFill>
                <a:latin typeface="Aptos"/>
              </a:defRPr>
            </a:pPr>
            <a:r>
              <a:t>SPOTLIGHT AGE GROUPS</a:t>
            </a:r>
          </a:p>
        </p:txBody>
      </p:sp>
      <p:sp>
        <p:nvSpPr>
          <p:cNvPr id="14" name="TextBox 13"/>
          <p:cNvSpPr txBox="1"/>
          <p:nvPr/>
        </p:nvSpPr>
        <p:spPr>
          <a:xfrm>
            <a:off x="8476488" y="2459736"/>
            <a:ext cx="2651760" cy="237744"/>
          </a:xfrm>
          <a:prstGeom prst="rect">
            <a:avLst/>
          </a:prstGeom>
          <a:noFill/>
        </p:spPr>
        <p:txBody>
          <a:bodyPr wrap="square" lIns="0" rIns="0" tIns="0" bIns="0" anchor="ctr">
            <a:spAutoFit/>
          </a:bodyPr>
          <a:lstStyle/>
          <a:p>
            <a:pPr>
              <a:spcBef>
                <a:spcPts val="0"/>
              </a:spcBef>
              <a:spcAft>
                <a:spcPts val="0"/>
              </a:spcAft>
              <a:defRPr sz="1080" b="1">
                <a:solidFill>
                  <a:srgbClr val="68768C"/>
                </a:solidFill>
                <a:latin typeface="Aptos"/>
              </a:defRPr>
            </a:pPr>
            <a:r>
              <a:t>AGES 15–19</a:t>
            </a:r>
          </a:p>
        </p:txBody>
      </p:sp>
      <p:sp>
        <p:nvSpPr>
          <p:cNvPr id="15" name="TextBox 14"/>
          <p:cNvSpPr txBox="1"/>
          <p:nvPr/>
        </p:nvSpPr>
        <p:spPr>
          <a:xfrm>
            <a:off x="8485632" y="2807208"/>
            <a:ext cx="2697480" cy="310896"/>
          </a:xfrm>
          <a:prstGeom prst="rect">
            <a:avLst/>
          </a:prstGeom>
          <a:noFill/>
        </p:spPr>
        <p:txBody>
          <a:bodyPr wrap="square" lIns="0" rIns="0" tIns="0" bIns="0" anchor="ctr">
            <a:spAutoFit/>
          </a:bodyPr>
          <a:lstStyle/>
          <a:p>
            <a:pPr>
              <a:spcBef>
                <a:spcPts val="0"/>
              </a:spcBef>
              <a:spcAft>
                <a:spcPts val="0"/>
              </a:spcAft>
              <a:defRPr sz="1600" b="1">
                <a:solidFill>
                  <a:srgbClr val="3174AD"/>
                </a:solidFill>
                <a:latin typeface="Aptos"/>
              </a:defRPr>
            </a:pPr>
            <a:r>
              <a:t>63.81%   men</a:t>
            </a:r>
          </a:p>
        </p:txBody>
      </p:sp>
      <p:sp>
        <p:nvSpPr>
          <p:cNvPr id="16" name="TextBox 15"/>
          <p:cNvSpPr txBox="1"/>
          <p:nvPr/>
        </p:nvSpPr>
        <p:spPr>
          <a:xfrm>
            <a:off x="8485632" y="3154680"/>
            <a:ext cx="2697480" cy="310896"/>
          </a:xfrm>
          <a:prstGeom prst="rect">
            <a:avLst/>
          </a:prstGeom>
          <a:noFill/>
        </p:spPr>
        <p:txBody>
          <a:bodyPr wrap="square" lIns="0" rIns="0" tIns="0" bIns="0" anchor="ctr">
            <a:spAutoFit/>
          </a:bodyPr>
          <a:lstStyle/>
          <a:p>
            <a:pPr>
              <a:spcBef>
                <a:spcPts val="0"/>
              </a:spcBef>
              <a:spcAft>
                <a:spcPts val="0"/>
              </a:spcAft>
              <a:defRPr sz="1600" b="1">
                <a:solidFill>
                  <a:srgbClr val="D85E79"/>
                </a:solidFill>
                <a:latin typeface="Aptos"/>
              </a:defRPr>
            </a:pPr>
            <a:r>
              <a:t>33.25%   women</a:t>
            </a:r>
          </a:p>
        </p:txBody>
      </p:sp>
      <p:sp>
        <p:nvSpPr>
          <p:cNvPr id="17" name="Rectangle 16"/>
          <p:cNvSpPr/>
          <p:nvPr/>
        </p:nvSpPr>
        <p:spPr>
          <a:xfrm>
            <a:off x="8485632" y="3630168"/>
            <a:ext cx="2788920" cy="16459"/>
          </a:xfrm>
          <a:prstGeom prst="rect">
            <a:avLst/>
          </a:prstGeom>
          <a:solidFill>
            <a:srgbClr val="DBE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3858768"/>
            <a:ext cx="2651760" cy="237744"/>
          </a:xfrm>
          <a:prstGeom prst="rect">
            <a:avLst/>
          </a:prstGeom>
          <a:noFill/>
        </p:spPr>
        <p:txBody>
          <a:bodyPr wrap="square" lIns="0" rIns="0" tIns="0" bIns="0" anchor="ctr">
            <a:spAutoFit/>
          </a:bodyPr>
          <a:lstStyle/>
          <a:p>
            <a:pPr>
              <a:spcBef>
                <a:spcPts val="0"/>
              </a:spcBef>
              <a:spcAft>
                <a:spcPts val="0"/>
              </a:spcAft>
              <a:defRPr sz="1080" b="1">
                <a:solidFill>
                  <a:srgbClr val="68768C"/>
                </a:solidFill>
                <a:latin typeface="Aptos"/>
              </a:defRPr>
            </a:pPr>
            <a:r>
              <a:t>AGES 55–59</a:t>
            </a:r>
          </a:p>
        </p:txBody>
      </p:sp>
      <p:sp>
        <p:nvSpPr>
          <p:cNvPr id="19" name="TextBox 18"/>
          <p:cNvSpPr txBox="1"/>
          <p:nvPr/>
        </p:nvSpPr>
        <p:spPr>
          <a:xfrm>
            <a:off x="8485632" y="4187952"/>
            <a:ext cx="2697480" cy="310896"/>
          </a:xfrm>
          <a:prstGeom prst="rect">
            <a:avLst/>
          </a:prstGeom>
          <a:noFill/>
        </p:spPr>
        <p:txBody>
          <a:bodyPr wrap="square" lIns="0" rIns="0" tIns="0" bIns="0" anchor="ctr">
            <a:spAutoFit/>
          </a:bodyPr>
          <a:lstStyle/>
          <a:p>
            <a:pPr>
              <a:spcBef>
                <a:spcPts val="0"/>
              </a:spcBef>
              <a:spcAft>
                <a:spcPts val="0"/>
              </a:spcAft>
              <a:defRPr sz="1600" b="1">
                <a:solidFill>
                  <a:srgbClr val="3174AD"/>
                </a:solidFill>
                <a:latin typeface="Aptos"/>
              </a:defRPr>
            </a:pPr>
            <a:r>
              <a:t>39.75%   men</a:t>
            </a:r>
          </a:p>
        </p:txBody>
      </p:sp>
      <p:sp>
        <p:nvSpPr>
          <p:cNvPr id="20" name="TextBox 19"/>
          <p:cNvSpPr txBox="1"/>
          <p:nvPr/>
        </p:nvSpPr>
        <p:spPr>
          <a:xfrm>
            <a:off x="8485632" y="4535424"/>
            <a:ext cx="2697480" cy="310896"/>
          </a:xfrm>
          <a:prstGeom prst="rect">
            <a:avLst/>
          </a:prstGeom>
          <a:noFill/>
        </p:spPr>
        <p:txBody>
          <a:bodyPr wrap="square" lIns="0" rIns="0" tIns="0" bIns="0" anchor="ctr">
            <a:spAutoFit/>
          </a:bodyPr>
          <a:lstStyle/>
          <a:p>
            <a:pPr>
              <a:spcBef>
                <a:spcPts val="0"/>
              </a:spcBef>
              <a:spcAft>
                <a:spcPts val="0"/>
              </a:spcAft>
              <a:defRPr sz="1600" b="1">
                <a:solidFill>
                  <a:srgbClr val="D85E79"/>
                </a:solidFill>
                <a:latin typeface="Aptos"/>
              </a:defRPr>
            </a:pPr>
            <a:r>
              <a:t>3.45%   women</a:t>
            </a:r>
          </a:p>
        </p:txBody>
      </p:sp>
      <p:sp>
        <p:nvSpPr>
          <p:cNvPr id="21" name="Rounded Rectangle 20"/>
          <p:cNvSpPr/>
          <p:nvPr/>
        </p:nvSpPr>
        <p:spPr>
          <a:xfrm>
            <a:off x="8412480" y="5148072"/>
            <a:ext cx="2944368" cy="658368"/>
          </a:xfrm>
          <a:prstGeom prst="roundRect">
            <a:avLst>
              <a:gd name="adj" fmla="val 10000"/>
            </a:avLst>
          </a:prstGeom>
          <a:solidFill>
            <a:srgbClr val="E5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58784" y="5239512"/>
            <a:ext cx="2624328" cy="466344"/>
          </a:xfrm>
          <a:prstGeom prst="rect">
            <a:avLst/>
          </a:prstGeom>
          <a:noFill/>
        </p:spPr>
        <p:txBody>
          <a:bodyPr wrap="square" lIns="0" rIns="0" tIns="0" bIns="0" anchor="ctr">
            <a:spAutoFit/>
          </a:bodyPr>
          <a:lstStyle/>
          <a:p>
            <a:pPr>
              <a:spcBef>
                <a:spcPts val="0"/>
              </a:spcBef>
              <a:spcAft>
                <a:spcPts val="0"/>
              </a:spcAft>
              <a:defRPr sz="1250" b="1">
                <a:solidFill>
                  <a:srgbClr val="20584F"/>
                </a:solidFill>
                <a:latin typeface="Aptos"/>
              </a:defRPr>
            </a:pPr>
            <a:r>
              <a:t>Largest gap: 47.92 pp</a:t>
            </a:r>
          </a:p>
          <a:p>
            <a:pPr>
              <a:spcBef>
                <a:spcPts val="0"/>
              </a:spcBef>
              <a:spcAft>
                <a:spcPts val="0"/>
              </a:spcAft>
              <a:defRPr sz="1250" b="1">
                <a:solidFill>
                  <a:srgbClr val="20584F"/>
                </a:solidFill>
                <a:latin typeface="Aptos"/>
              </a:defRPr>
            </a:pPr>
            <a:r>
              <a:t>at ages 40–44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228600"/>
            <a:ext cx="4572000" cy="237744"/>
          </a:xfrm>
          <a:prstGeom prst="rect">
            <a:avLst/>
          </a:prstGeom>
          <a:noFill/>
        </p:spPr>
        <p:txBody>
          <a:bodyPr wrap="square" lIns="0" rIns="0" tIns="0" bIns="0" anchor="ctr">
            <a:spAutoFit/>
          </a:bodyPr>
          <a:lstStyle/>
          <a:p>
            <a:pPr>
              <a:spcBef>
                <a:spcPts val="0"/>
              </a:spcBef>
              <a:spcAft>
                <a:spcPts val="0"/>
              </a:spcAft>
              <a:defRPr sz="1000" b="1">
                <a:solidFill>
                  <a:srgbClr val="3174AD"/>
                </a:solidFill>
                <a:latin typeface="Aptos"/>
              </a:defRPr>
            </a:pPr>
            <a:r>
              <a:t>ECO346  /  ASSIGNMENT 01</a:t>
            </a:r>
          </a:p>
        </p:txBody>
      </p:sp>
      <p:sp>
        <p:nvSpPr>
          <p:cNvPr id="5" name="TextBox 4"/>
          <p:cNvSpPr txBox="1"/>
          <p:nvPr/>
        </p:nvSpPr>
        <p:spPr>
          <a:xfrm>
            <a:off x="566928" y="576072"/>
            <a:ext cx="10789920" cy="585216"/>
          </a:xfrm>
          <a:prstGeom prst="rect">
            <a:avLst/>
          </a:prstGeom>
          <a:noFill/>
        </p:spPr>
        <p:txBody>
          <a:bodyPr wrap="square" lIns="0" rIns="0" tIns="0" bIns="0" anchor="ctr">
            <a:spAutoFit/>
          </a:bodyPr>
          <a:lstStyle/>
          <a:p>
            <a:pPr>
              <a:spcBef>
                <a:spcPts val="0"/>
              </a:spcBef>
              <a:spcAft>
                <a:spcPts val="0"/>
              </a:spcAft>
              <a:defRPr sz="2800" b="1">
                <a:solidFill>
                  <a:srgbClr val="142039"/>
                </a:solidFill>
                <a:latin typeface="Aptos"/>
              </a:defRPr>
            </a:pPr>
            <a:r>
              <a:t>Clearer graphs. Matching results.</a:t>
            </a:r>
          </a:p>
        </p:txBody>
      </p:sp>
      <p:sp>
        <p:nvSpPr>
          <p:cNvPr id="6" name="TextBox 5"/>
          <p:cNvSpPr txBox="1"/>
          <p:nvPr/>
        </p:nvSpPr>
        <p:spPr>
          <a:xfrm>
            <a:off x="585216" y="1188720"/>
            <a:ext cx="9144000" cy="274320"/>
          </a:xfrm>
          <a:prstGeom prst="rect">
            <a:avLst/>
          </a:prstGeom>
          <a:noFill/>
        </p:spPr>
        <p:txBody>
          <a:bodyPr wrap="square" lIns="0" rIns="0" tIns="0" bIns="0" anchor="ctr">
            <a:spAutoFit/>
          </a:bodyPr>
          <a:lstStyle/>
          <a:p>
            <a:pPr>
              <a:spcBef>
                <a:spcPts val="0"/>
              </a:spcBef>
              <a:spcAft>
                <a:spcPts val="0"/>
              </a:spcAft>
              <a:defRPr sz="1050" b="1">
                <a:solidFill>
                  <a:srgbClr val="68768C"/>
                </a:solidFill>
                <a:latin typeface="Aptos"/>
              </a:defRPr>
            </a:pPr>
            <a:r>
              <a:t>QUESTIONS 4 &amp; 5  •  VISUAL REDESIGN &amp; PYTHON VERIFICATION</a:t>
            </a:r>
          </a:p>
        </p:txBody>
      </p:sp>
      <p:sp>
        <p:nvSpPr>
          <p:cNvPr id="7" name="Rectangle 6"/>
          <p:cNvSpPr/>
          <p:nvPr/>
        </p:nvSpPr>
        <p:spPr>
          <a:xfrm>
            <a:off x="585216" y="6464808"/>
            <a:ext cx="11018520" cy="10972"/>
          </a:xfrm>
          <a:prstGeom prst="rect">
            <a:avLst/>
          </a:prstGeom>
          <a:solidFill>
            <a:srgbClr val="DCE3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 y="6528816"/>
            <a:ext cx="6400800" cy="182880"/>
          </a:xfrm>
          <a:prstGeom prst="rect">
            <a:avLst/>
          </a:prstGeom>
          <a:noFill/>
        </p:spPr>
        <p:txBody>
          <a:bodyPr wrap="square" lIns="0" rIns="0" tIns="0" bIns="0" anchor="ctr">
            <a:spAutoFit/>
          </a:bodyPr>
          <a:lstStyle/>
          <a:p>
            <a:pPr>
              <a:spcBef>
                <a:spcPts val="0"/>
              </a:spcBef>
              <a:spcAft>
                <a:spcPts val="0"/>
              </a:spcAft>
              <a:defRPr sz="819" b="1">
                <a:solidFill>
                  <a:srgbClr val="68768C"/>
                </a:solidFill>
                <a:latin typeface="Aptos"/>
              </a:defRPr>
            </a:pPr>
            <a:r>
              <a:t>ZAINAB ASHRAF    •    FA24-BED-078    •    VARIANT 06</a:t>
            </a:r>
          </a:p>
        </p:txBody>
      </p:sp>
      <p:sp>
        <p:nvSpPr>
          <p:cNvPr id="9" name="TextBox 8"/>
          <p:cNvSpPr txBox="1"/>
          <p:nvPr/>
        </p:nvSpPr>
        <p:spPr>
          <a:xfrm>
            <a:off x="11018520" y="6510528"/>
            <a:ext cx="493776" cy="210312"/>
          </a:xfrm>
          <a:prstGeom prst="rect">
            <a:avLst/>
          </a:prstGeom>
          <a:noFill/>
        </p:spPr>
        <p:txBody>
          <a:bodyPr wrap="square" lIns="0" rIns="0" tIns="0" bIns="0" anchor="ctr">
            <a:spAutoFit/>
          </a:bodyPr>
          <a:lstStyle/>
          <a:p>
            <a:pPr algn="r">
              <a:spcBef>
                <a:spcPts val="0"/>
              </a:spcBef>
              <a:spcAft>
                <a:spcPts val="0"/>
              </a:spcAft>
              <a:defRPr sz="900" b="1">
                <a:solidFill>
                  <a:srgbClr val="68768C"/>
                </a:solidFill>
                <a:latin typeface="Aptos"/>
              </a:defRPr>
            </a:pPr>
            <a:r>
              <a:t>04 / 05</a:t>
            </a:r>
          </a:p>
        </p:txBody>
      </p:sp>
      <p:sp>
        <p:nvSpPr>
          <p:cNvPr id="10" name="Rounded Rectangle 9"/>
          <p:cNvSpPr/>
          <p:nvPr/>
        </p:nvSpPr>
        <p:spPr>
          <a:xfrm>
            <a:off x="566928" y="1645920"/>
            <a:ext cx="5093208" cy="2852928"/>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25312" y="1645920"/>
            <a:ext cx="5678424" cy="2852928"/>
          </a:xfrm>
          <a:prstGeom prst="roundRect">
            <a:avLst>
              <a:gd name="adj" fmla="val 14000"/>
            </a:avLst>
          </a:prstGeom>
          <a:solidFill>
            <a:srgbClr val="FFFFFF"/>
          </a:solidFill>
          <a:ln w="8890">
            <a:solidFill>
              <a:srgbClr val="E3EA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1819656"/>
            <a:ext cx="4562856" cy="246888"/>
          </a:xfrm>
          <a:prstGeom prst="rect">
            <a:avLst/>
          </a:prstGeom>
          <a:noFill/>
        </p:spPr>
        <p:txBody>
          <a:bodyPr wrap="square" lIns="0" rIns="0" tIns="0" bIns="0" anchor="ctr">
            <a:spAutoFit/>
          </a:bodyPr>
          <a:lstStyle/>
          <a:p>
            <a:pPr>
              <a:spcBef>
                <a:spcPts val="0"/>
              </a:spcBef>
              <a:spcAft>
                <a:spcPts val="0"/>
              </a:spcAft>
              <a:defRPr sz="1180" b="1">
                <a:solidFill>
                  <a:srgbClr val="68768C"/>
                </a:solidFill>
                <a:latin typeface="Aptos"/>
              </a:defRPr>
            </a:pPr>
            <a:r>
              <a:t>DEFAULT-STYLE VIEW</a:t>
            </a:r>
          </a:p>
        </p:txBody>
      </p:sp>
      <p:sp>
        <p:nvSpPr>
          <p:cNvPr id="13" name="TextBox 12"/>
          <p:cNvSpPr txBox="1"/>
          <p:nvPr/>
        </p:nvSpPr>
        <p:spPr>
          <a:xfrm>
            <a:off x="6135624" y="1819656"/>
            <a:ext cx="5239512" cy="246888"/>
          </a:xfrm>
          <a:prstGeom prst="rect">
            <a:avLst/>
          </a:prstGeom>
          <a:noFill/>
        </p:spPr>
        <p:txBody>
          <a:bodyPr wrap="square" lIns="0" rIns="0" tIns="0" bIns="0" anchor="ctr">
            <a:spAutoFit/>
          </a:bodyPr>
          <a:lstStyle/>
          <a:p>
            <a:pPr>
              <a:spcBef>
                <a:spcPts val="0"/>
              </a:spcBef>
              <a:spcAft>
                <a:spcPts val="0"/>
              </a:spcAft>
              <a:defRPr sz="1180" b="1">
                <a:solidFill>
                  <a:srgbClr val="3174AD"/>
                </a:solidFill>
                <a:latin typeface="Aptos"/>
              </a:defRPr>
            </a:pPr>
            <a:r>
              <a:t>REDESIGNED WEIGHTED VIEW</a:t>
            </a:r>
          </a:p>
        </p:txBody>
      </p:sp>
      <p:pic>
        <p:nvPicPr>
          <p:cNvPr id="14" name="Picture 13" descr="default_style_schematic.png"/>
          <p:cNvPicPr>
            <a:picLocks noChangeAspect="1"/>
          </p:cNvPicPr>
          <p:nvPr/>
        </p:nvPicPr>
        <p:blipFill>
          <a:blip r:embed="rId2"/>
          <a:stretch>
            <a:fillRect/>
          </a:stretch>
        </p:blipFill>
        <p:spPr>
          <a:xfrm>
            <a:off x="1492148" y="2093976"/>
            <a:ext cx="3251911" cy="2075688"/>
          </a:xfrm>
          <a:prstGeom prst="rect">
            <a:avLst/>
          </a:prstGeom>
        </p:spPr>
      </p:pic>
      <p:pic>
        <p:nvPicPr>
          <p:cNvPr id="15" name="Picture 14" descr="redesigned_mini.png"/>
          <p:cNvPicPr>
            <a:picLocks noChangeAspect="1"/>
          </p:cNvPicPr>
          <p:nvPr/>
        </p:nvPicPr>
        <p:blipFill>
          <a:blip r:embed="rId3"/>
          <a:stretch>
            <a:fillRect/>
          </a:stretch>
        </p:blipFill>
        <p:spPr>
          <a:xfrm>
            <a:off x="7047128" y="2093976"/>
            <a:ext cx="3251911" cy="2075688"/>
          </a:xfrm>
          <a:prstGeom prst="rect">
            <a:avLst/>
          </a:prstGeom>
        </p:spPr>
      </p:pic>
      <p:sp>
        <p:nvSpPr>
          <p:cNvPr id="16" name="TextBox 15"/>
          <p:cNvSpPr txBox="1"/>
          <p:nvPr/>
        </p:nvSpPr>
        <p:spPr>
          <a:xfrm>
            <a:off x="768096" y="4197096"/>
            <a:ext cx="4626864" cy="155448"/>
          </a:xfrm>
          <a:prstGeom prst="rect">
            <a:avLst/>
          </a:prstGeom>
          <a:noFill/>
        </p:spPr>
        <p:txBody>
          <a:bodyPr wrap="square" lIns="0" rIns="0" tIns="0" bIns="0" anchor="ctr">
            <a:spAutoFit/>
          </a:bodyPr>
          <a:lstStyle/>
          <a:p>
            <a:pPr>
              <a:spcBef>
                <a:spcPts val="0"/>
              </a:spcBef>
              <a:spcAft>
                <a:spcPts val="0"/>
              </a:spcAft>
              <a:defRPr sz="800" b="0">
                <a:solidFill>
                  <a:srgbClr val="68768C"/>
                </a:solidFill>
                <a:latin typeface="Aptos"/>
              </a:defRPr>
            </a:pPr>
            <a:r>
              <a:t>Schematic: unstyled age-band points; actual default.svg in GitHub.</a:t>
            </a:r>
          </a:p>
        </p:txBody>
      </p:sp>
      <p:sp>
        <p:nvSpPr>
          <p:cNvPr id="17" name="TextBox 16"/>
          <p:cNvSpPr txBox="1"/>
          <p:nvPr/>
        </p:nvSpPr>
        <p:spPr>
          <a:xfrm>
            <a:off x="6199632" y="4197096"/>
            <a:ext cx="5120640" cy="155448"/>
          </a:xfrm>
          <a:prstGeom prst="rect">
            <a:avLst/>
          </a:prstGeom>
          <a:noFill/>
        </p:spPr>
        <p:txBody>
          <a:bodyPr wrap="square" lIns="0" rIns="0" tIns="0" bIns="0" anchor="ctr">
            <a:spAutoFit/>
          </a:bodyPr>
          <a:lstStyle/>
          <a:p>
            <a:pPr>
              <a:spcBef>
                <a:spcPts val="0"/>
              </a:spcBef>
              <a:spcAft>
                <a:spcPts val="0"/>
              </a:spcAft>
              <a:defRPr sz="800" b="0">
                <a:solidFill>
                  <a:srgbClr val="68768C"/>
                </a:solidFill>
                <a:latin typeface="Aptos"/>
              </a:defRPr>
            </a:pPr>
            <a:r>
              <a:t>Actual weighted R age-band rates with direct labels and gap.</a:t>
            </a:r>
          </a:p>
        </p:txBody>
      </p:sp>
      <p:sp>
        <p:nvSpPr>
          <p:cNvPr id="18" name="Rounded Rectangle 17"/>
          <p:cNvSpPr/>
          <p:nvPr/>
        </p:nvSpPr>
        <p:spPr>
          <a:xfrm>
            <a:off x="566928" y="4700016"/>
            <a:ext cx="7004304" cy="1143000"/>
          </a:xfrm>
          <a:prstGeom prst="roundRect">
            <a:avLst>
              <a:gd name="adj" fmla="val 12000"/>
            </a:avLst>
          </a:prstGeom>
          <a:solidFill>
            <a:srgbClr val="E7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92040"/>
            <a:ext cx="6510528" cy="274320"/>
          </a:xfrm>
          <a:prstGeom prst="rect">
            <a:avLst/>
          </a:prstGeom>
          <a:noFill/>
        </p:spPr>
        <p:txBody>
          <a:bodyPr wrap="square" lIns="0" rIns="0" tIns="0" bIns="0" anchor="ctr">
            <a:spAutoFit/>
          </a:bodyPr>
          <a:lstStyle/>
          <a:p>
            <a:pPr>
              <a:spcBef>
                <a:spcPts val="0"/>
              </a:spcBef>
              <a:spcAft>
                <a:spcPts val="0"/>
              </a:spcAft>
              <a:defRPr sz="1100" b="1">
                <a:solidFill>
                  <a:srgbClr val="3174AD"/>
                </a:solidFill>
                <a:latin typeface="Aptos"/>
              </a:defRPr>
            </a:pPr>
            <a:r>
              <a:t>DESIGN IMPROVEMENTS</a:t>
            </a:r>
          </a:p>
        </p:txBody>
      </p:sp>
      <p:sp>
        <p:nvSpPr>
          <p:cNvPr id="20" name="TextBox 19"/>
          <p:cNvSpPr txBox="1"/>
          <p:nvPr/>
        </p:nvSpPr>
        <p:spPr>
          <a:xfrm>
            <a:off x="777240" y="5239512"/>
            <a:ext cx="6528816" cy="384048"/>
          </a:xfrm>
          <a:prstGeom prst="rect">
            <a:avLst/>
          </a:prstGeom>
          <a:noFill/>
        </p:spPr>
        <p:txBody>
          <a:bodyPr wrap="square" lIns="0" rIns="0" tIns="0" bIns="0" anchor="ctr">
            <a:spAutoFit/>
          </a:bodyPr>
          <a:lstStyle/>
          <a:p>
            <a:pPr>
              <a:spcBef>
                <a:spcPts val="0"/>
              </a:spcBef>
              <a:spcAft>
                <a:spcPts val="0"/>
              </a:spcAft>
              <a:defRPr sz="1300" b="1">
                <a:solidFill>
                  <a:srgbClr val="142039"/>
                </a:solidFill>
                <a:latin typeface="Aptos"/>
              </a:defRPr>
            </a:pPr>
            <a:r>
              <a:t>Clear trend lines  •  Direct gender labels  •  Largest-gap highlight</a:t>
            </a:r>
          </a:p>
        </p:txBody>
      </p:sp>
      <p:sp>
        <p:nvSpPr>
          <p:cNvPr id="21" name="Rounded Rectangle 20"/>
          <p:cNvSpPr/>
          <p:nvPr/>
        </p:nvSpPr>
        <p:spPr>
          <a:xfrm>
            <a:off x="7744968" y="4700016"/>
            <a:ext cx="3858768" cy="1143000"/>
          </a:xfrm>
          <a:prstGeom prst="roundRect">
            <a:avLst>
              <a:gd name="adj" fmla="val 12000"/>
            </a:avLst>
          </a:prstGeom>
          <a:solidFill>
            <a:srgbClr val="E5F5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64424" y="4873752"/>
            <a:ext cx="3383280" cy="219456"/>
          </a:xfrm>
          <a:prstGeom prst="rect">
            <a:avLst/>
          </a:prstGeom>
          <a:noFill/>
        </p:spPr>
        <p:txBody>
          <a:bodyPr wrap="square" lIns="0" rIns="0" tIns="0" bIns="0" anchor="ctr">
            <a:spAutoFit/>
          </a:bodyPr>
          <a:lstStyle/>
          <a:p>
            <a:pPr>
              <a:spcBef>
                <a:spcPts val="0"/>
              </a:spcBef>
              <a:spcAft>
                <a:spcPts val="0"/>
              </a:spcAft>
              <a:defRPr sz="1100" b="1">
                <a:solidFill>
                  <a:srgbClr val="286B63"/>
                </a:solidFill>
                <a:latin typeface="Aptos"/>
              </a:defRPr>
            </a:pPr>
            <a:r>
              <a:t>PYTHON CHECK OF R</a:t>
            </a:r>
          </a:p>
        </p:txBody>
      </p:sp>
      <p:sp>
        <p:nvSpPr>
          <p:cNvPr id="23" name="TextBox 22"/>
          <p:cNvSpPr txBox="1"/>
          <p:nvPr/>
        </p:nvSpPr>
        <p:spPr>
          <a:xfrm>
            <a:off x="7964424" y="5175504"/>
            <a:ext cx="3456432" cy="384048"/>
          </a:xfrm>
          <a:prstGeom prst="rect">
            <a:avLst/>
          </a:prstGeom>
          <a:noFill/>
        </p:spPr>
        <p:txBody>
          <a:bodyPr wrap="square" lIns="0" rIns="0" tIns="0" bIns="0" anchor="ctr">
            <a:spAutoFit/>
          </a:bodyPr>
          <a:lstStyle/>
          <a:p>
            <a:pPr>
              <a:spcBef>
                <a:spcPts val="0"/>
              </a:spcBef>
              <a:spcAft>
                <a:spcPts val="0"/>
              </a:spcAft>
              <a:defRPr sz="1320" b="1">
                <a:solidFill>
                  <a:srgbClr val="142039"/>
                </a:solidFill>
                <a:latin typeface="Aptos"/>
              </a:defRPr>
            </a:pPr>
            <a:r>
              <a:t>22 / 22 rates match  •  1 decimal</a:t>
            </a:r>
          </a:p>
        </p:txBody>
      </p:sp>
      <p:sp>
        <p:nvSpPr>
          <p:cNvPr id="24" name="TextBox 23"/>
          <p:cNvSpPr txBox="1"/>
          <p:nvPr/>
        </p:nvSpPr>
        <p:spPr>
          <a:xfrm>
            <a:off x="667512" y="6062472"/>
            <a:ext cx="6912864" cy="237744"/>
          </a:xfrm>
          <a:prstGeom prst="rect">
            <a:avLst/>
          </a:prstGeom>
          <a:noFill/>
        </p:spPr>
        <p:txBody>
          <a:bodyPr wrap="square" lIns="0" rIns="0" tIns="0" bIns="0" anchor="ctr">
            <a:spAutoFit/>
          </a:bodyPr>
          <a:lstStyle/>
          <a:p>
            <a:pPr>
              <a:spcBef>
                <a:spcPts val="0"/>
              </a:spcBef>
              <a:spcAft>
                <a:spcPts val="0"/>
              </a:spcAft>
              <a:defRPr sz="1180" b="1">
                <a:solidFill>
                  <a:srgbClr val="68768C"/>
                </a:solidFill>
                <a:latin typeface="Aptos"/>
              </a:defRPr>
            </a:pPr>
            <a:r>
              <a:t>Conclusion: Male literacy is higher in every age band in this sample.</a:t>
            </a:r>
          </a:p>
        </p:txBody>
      </p:sp>
      <p:sp>
        <p:nvSpPr>
          <p:cNvPr id="25" name="TextBox 24"/>
          <p:cNvSpPr txBox="1"/>
          <p:nvPr/>
        </p:nvSpPr>
        <p:spPr>
          <a:xfrm>
            <a:off x="8549640" y="5925312"/>
            <a:ext cx="2907792" cy="402336"/>
          </a:xfrm>
          <a:prstGeom prst="rect">
            <a:avLst/>
          </a:prstGeom>
          <a:noFill/>
        </p:spPr>
        <p:txBody>
          <a:bodyPr wrap="square" lIns="0" rIns="0" tIns="0" bIns="0" anchor="ctr">
            <a:spAutoFit/>
          </a:bodyPr>
          <a:lstStyle/>
          <a:p>
            <a:pPr algn="r">
              <a:spcBef>
                <a:spcPts val="0"/>
              </a:spcBef>
              <a:spcAft>
                <a:spcPts val="0"/>
              </a:spcAft>
              <a:defRPr sz="1600" b="1">
                <a:solidFill>
                  <a:srgbClr val="1FB3A7"/>
                </a:solidFill>
                <a:latin typeface="Aptos"/>
              </a:defRPr>
            </a:pPr>
            <a:r>
              <a:t>22 / 22 MATCH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1B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2648" y="603504"/>
            <a:ext cx="2944368" cy="374904"/>
          </a:xfrm>
          <a:prstGeom prst="roundRect">
            <a:avLst>
              <a:gd name="adj" fmla="val 14000"/>
            </a:avLst>
          </a:prstGeom>
          <a:solidFill>
            <a:srgbClr val="1726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3816" y="685800"/>
            <a:ext cx="2697480" cy="201168"/>
          </a:xfrm>
          <a:prstGeom prst="rect">
            <a:avLst/>
          </a:prstGeom>
          <a:noFill/>
        </p:spPr>
        <p:txBody>
          <a:bodyPr wrap="square" lIns="0" rIns="0" tIns="0" bIns="0" anchor="ctr">
            <a:spAutoFit/>
          </a:bodyPr>
          <a:lstStyle/>
          <a:p>
            <a:pPr>
              <a:spcBef>
                <a:spcPts val="0"/>
              </a:spcBef>
              <a:spcAft>
                <a:spcPts val="0"/>
              </a:spcAft>
              <a:defRPr sz="1100" b="1">
                <a:solidFill>
                  <a:srgbClr val="83E0CE"/>
                </a:solidFill>
                <a:latin typeface="Aptos"/>
              </a:defRPr>
            </a:pPr>
            <a:r>
              <a:t>ECO346   •   ASSIGNMENT 01</a:t>
            </a:r>
          </a:p>
        </p:txBody>
      </p:sp>
      <p:sp>
        <p:nvSpPr>
          <p:cNvPr id="6" name="TextBox 5"/>
          <p:cNvSpPr txBox="1"/>
          <p:nvPr/>
        </p:nvSpPr>
        <p:spPr>
          <a:xfrm>
            <a:off x="658368" y="1344168"/>
            <a:ext cx="6583680" cy="914400"/>
          </a:xfrm>
          <a:prstGeom prst="rect">
            <a:avLst/>
          </a:prstGeom>
          <a:noFill/>
        </p:spPr>
        <p:txBody>
          <a:bodyPr wrap="square" lIns="0" rIns="0" tIns="0" bIns="0" anchor="ctr">
            <a:spAutoFit/>
          </a:bodyPr>
          <a:lstStyle/>
          <a:p>
            <a:pPr>
              <a:spcBef>
                <a:spcPts val="0"/>
              </a:spcBef>
              <a:spcAft>
                <a:spcPts val="0"/>
              </a:spcAft>
              <a:defRPr sz="5300" b="1">
                <a:solidFill>
                  <a:srgbClr val="FFFFFF"/>
                </a:solidFill>
                <a:latin typeface="Aptos"/>
              </a:defRPr>
            </a:pPr>
            <a:r>
              <a:t>Thank you!</a:t>
            </a:r>
          </a:p>
        </p:txBody>
      </p:sp>
      <p:sp>
        <p:nvSpPr>
          <p:cNvPr id="7" name="TextBox 6"/>
          <p:cNvSpPr txBox="1"/>
          <p:nvPr/>
        </p:nvSpPr>
        <p:spPr>
          <a:xfrm>
            <a:off x="676656" y="2286000"/>
            <a:ext cx="6995160" cy="548640"/>
          </a:xfrm>
          <a:prstGeom prst="rect">
            <a:avLst/>
          </a:prstGeom>
          <a:noFill/>
        </p:spPr>
        <p:txBody>
          <a:bodyPr wrap="square" lIns="0" rIns="0" tIns="0" bIns="0" anchor="ctr">
            <a:spAutoFit/>
          </a:bodyPr>
          <a:lstStyle/>
          <a:p>
            <a:pPr>
              <a:spcBef>
                <a:spcPts val="0"/>
              </a:spcBef>
              <a:spcAft>
                <a:spcPts val="0"/>
              </a:spcAft>
              <a:defRPr sz="1700" b="0">
                <a:solidFill>
                  <a:srgbClr val="B9CFE0"/>
                </a:solidFill>
                <a:latin typeface="Aptos"/>
              </a:defRPr>
            </a:pPr>
            <a:r>
              <a:t>Education spending &amp; literacy in rural Balochistan</a:t>
            </a:r>
          </a:p>
        </p:txBody>
      </p:sp>
      <p:sp>
        <p:nvSpPr>
          <p:cNvPr id="8" name="TextBox 7"/>
          <p:cNvSpPr txBox="1"/>
          <p:nvPr/>
        </p:nvSpPr>
        <p:spPr>
          <a:xfrm>
            <a:off x="685800" y="2935224"/>
            <a:ext cx="5303520" cy="310896"/>
          </a:xfrm>
          <a:prstGeom prst="rect">
            <a:avLst/>
          </a:prstGeom>
          <a:noFill/>
        </p:spPr>
        <p:txBody>
          <a:bodyPr wrap="square" lIns="0" rIns="0" tIns="0" bIns="0" anchor="ctr">
            <a:spAutoFit/>
          </a:bodyPr>
          <a:lstStyle/>
          <a:p>
            <a:pPr>
              <a:spcBef>
                <a:spcPts val="0"/>
              </a:spcBef>
              <a:spcAft>
                <a:spcPts val="0"/>
              </a:spcAft>
              <a:defRPr sz="1100" b="1">
                <a:solidFill>
                  <a:srgbClr val="83E0CE"/>
                </a:solidFill>
                <a:latin typeface="Aptos"/>
              </a:defRPr>
            </a:pPr>
            <a:r>
              <a:t>THREE MAIN TAKEAWAYS</a:t>
            </a:r>
          </a:p>
        </p:txBody>
      </p:sp>
      <p:sp>
        <p:nvSpPr>
          <p:cNvPr id="9" name="Rounded Rectangle 8"/>
          <p:cNvSpPr/>
          <p:nvPr/>
        </p:nvSpPr>
        <p:spPr>
          <a:xfrm>
            <a:off x="658368" y="3355848"/>
            <a:ext cx="6583680" cy="731520"/>
          </a:xfrm>
          <a:prstGeom prst="roundRect">
            <a:avLst>
              <a:gd name="adj" fmla="val 13000"/>
            </a:avLst>
          </a:prstGeom>
          <a:solidFill>
            <a:srgbClr val="172641"/>
          </a:solidFill>
          <a:ln w="10160">
            <a:solidFill>
              <a:srgbClr val="324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3502152"/>
            <a:ext cx="59436" cy="429768"/>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3474720"/>
            <a:ext cx="429768" cy="256032"/>
          </a:xfrm>
          <a:prstGeom prst="rect">
            <a:avLst/>
          </a:prstGeom>
          <a:noFill/>
        </p:spPr>
        <p:txBody>
          <a:bodyPr wrap="square" lIns="0" rIns="0" tIns="0" bIns="0" anchor="ctr">
            <a:spAutoFit/>
          </a:bodyPr>
          <a:lstStyle/>
          <a:p>
            <a:pPr>
              <a:spcBef>
                <a:spcPts val="0"/>
              </a:spcBef>
              <a:spcAft>
                <a:spcPts val="0"/>
              </a:spcAft>
              <a:defRPr sz="1100" b="1">
                <a:solidFill>
                  <a:srgbClr val="1FB3A7"/>
                </a:solidFill>
                <a:latin typeface="Aptos"/>
              </a:defRPr>
            </a:pPr>
            <a:r>
              <a:t>01</a:t>
            </a:r>
          </a:p>
        </p:txBody>
      </p:sp>
      <p:sp>
        <p:nvSpPr>
          <p:cNvPr id="12" name="TextBox 11"/>
          <p:cNvSpPr txBox="1"/>
          <p:nvPr/>
        </p:nvSpPr>
        <p:spPr>
          <a:xfrm>
            <a:off x="1527048" y="3429000"/>
            <a:ext cx="5504688" cy="274320"/>
          </a:xfrm>
          <a:prstGeom prst="rect">
            <a:avLst/>
          </a:prstGeom>
          <a:noFill/>
        </p:spPr>
        <p:txBody>
          <a:bodyPr wrap="square" lIns="0" rIns="0" tIns="0" bIns="0" anchor="ctr">
            <a:spAutoFit/>
          </a:bodyPr>
          <a:lstStyle/>
          <a:p>
            <a:pPr>
              <a:spcBef>
                <a:spcPts val="0"/>
              </a:spcBef>
              <a:spcAft>
                <a:spcPts val="0"/>
              </a:spcAft>
              <a:defRPr sz="1500" b="1">
                <a:solidFill>
                  <a:srgbClr val="FFFFFF"/>
                </a:solidFill>
                <a:latin typeface="Aptos"/>
              </a:defRPr>
            </a:pPr>
            <a:r>
              <a:t>Spending varies widely</a:t>
            </a:r>
          </a:p>
        </p:txBody>
      </p:sp>
      <p:sp>
        <p:nvSpPr>
          <p:cNvPr id="13" name="TextBox 12"/>
          <p:cNvSpPr txBox="1"/>
          <p:nvPr/>
        </p:nvSpPr>
        <p:spPr>
          <a:xfrm>
            <a:off x="1527048" y="3749039"/>
            <a:ext cx="5468112" cy="210312"/>
          </a:xfrm>
          <a:prstGeom prst="rect">
            <a:avLst/>
          </a:prstGeom>
          <a:noFill/>
        </p:spPr>
        <p:txBody>
          <a:bodyPr wrap="square" lIns="0" rIns="0" tIns="0" bIns="0" anchor="ctr">
            <a:spAutoFit/>
          </a:bodyPr>
          <a:lstStyle/>
          <a:p>
            <a:pPr>
              <a:spcBef>
                <a:spcPts val="0"/>
              </a:spcBef>
              <a:spcAft>
                <a:spcPts val="0"/>
              </a:spcAft>
              <a:defRPr sz="1050" b="0">
                <a:solidFill>
                  <a:srgbClr val="BFCFE1"/>
                </a:solidFill>
                <a:latin typeface="Aptos"/>
              </a:defRPr>
            </a:pPr>
            <a:r>
              <a:t>Weighted median Rs 3,500  •  P90 Rs 18,700</a:t>
            </a:r>
          </a:p>
        </p:txBody>
      </p:sp>
      <p:sp>
        <p:nvSpPr>
          <p:cNvPr id="14" name="Rounded Rectangle 13"/>
          <p:cNvSpPr/>
          <p:nvPr/>
        </p:nvSpPr>
        <p:spPr>
          <a:xfrm>
            <a:off x="658368" y="4224528"/>
            <a:ext cx="6583680" cy="731520"/>
          </a:xfrm>
          <a:prstGeom prst="roundRect">
            <a:avLst>
              <a:gd name="adj" fmla="val 13000"/>
            </a:avLst>
          </a:prstGeom>
          <a:solidFill>
            <a:srgbClr val="172641"/>
          </a:solidFill>
          <a:ln w="10160">
            <a:solidFill>
              <a:srgbClr val="324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4370832"/>
            <a:ext cx="59436" cy="429768"/>
          </a:xfrm>
          <a:prstGeom prst="rect">
            <a:avLst/>
          </a:prstGeom>
          <a:solidFill>
            <a:srgbClr val="D85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343400"/>
            <a:ext cx="429768" cy="256032"/>
          </a:xfrm>
          <a:prstGeom prst="rect">
            <a:avLst/>
          </a:prstGeom>
          <a:noFill/>
        </p:spPr>
        <p:txBody>
          <a:bodyPr wrap="square" lIns="0" rIns="0" tIns="0" bIns="0" anchor="ctr">
            <a:spAutoFit/>
          </a:bodyPr>
          <a:lstStyle/>
          <a:p>
            <a:pPr>
              <a:spcBef>
                <a:spcPts val="0"/>
              </a:spcBef>
              <a:spcAft>
                <a:spcPts val="0"/>
              </a:spcAft>
              <a:defRPr sz="1100" b="1">
                <a:solidFill>
                  <a:srgbClr val="D85E79"/>
                </a:solidFill>
                <a:latin typeface="Aptos"/>
              </a:defRPr>
            </a:pPr>
            <a:r>
              <a:t>02</a:t>
            </a:r>
          </a:p>
        </p:txBody>
      </p:sp>
      <p:sp>
        <p:nvSpPr>
          <p:cNvPr id="17" name="TextBox 16"/>
          <p:cNvSpPr txBox="1"/>
          <p:nvPr/>
        </p:nvSpPr>
        <p:spPr>
          <a:xfrm>
            <a:off x="1527048" y="4297680"/>
            <a:ext cx="5504688" cy="274320"/>
          </a:xfrm>
          <a:prstGeom prst="rect">
            <a:avLst/>
          </a:prstGeom>
          <a:noFill/>
        </p:spPr>
        <p:txBody>
          <a:bodyPr wrap="square" lIns="0" rIns="0" tIns="0" bIns="0" anchor="ctr">
            <a:spAutoFit/>
          </a:bodyPr>
          <a:lstStyle/>
          <a:p>
            <a:pPr>
              <a:spcBef>
                <a:spcPts val="0"/>
              </a:spcBef>
              <a:spcAft>
                <a:spcPts val="0"/>
              </a:spcAft>
              <a:defRPr sz="1500" b="1">
                <a:solidFill>
                  <a:srgbClr val="FFFFFF"/>
                </a:solidFill>
                <a:latin typeface="Aptos"/>
              </a:defRPr>
            </a:pPr>
            <a:r>
              <a:t>Gender gaps remain large</a:t>
            </a:r>
          </a:p>
        </p:txBody>
      </p:sp>
      <p:sp>
        <p:nvSpPr>
          <p:cNvPr id="18" name="TextBox 17"/>
          <p:cNvSpPr txBox="1"/>
          <p:nvPr/>
        </p:nvSpPr>
        <p:spPr>
          <a:xfrm>
            <a:off x="1527048" y="4617720"/>
            <a:ext cx="5468112" cy="210312"/>
          </a:xfrm>
          <a:prstGeom prst="rect">
            <a:avLst/>
          </a:prstGeom>
          <a:noFill/>
        </p:spPr>
        <p:txBody>
          <a:bodyPr wrap="square" lIns="0" rIns="0" tIns="0" bIns="0" anchor="ctr">
            <a:spAutoFit/>
          </a:bodyPr>
          <a:lstStyle/>
          <a:p>
            <a:pPr>
              <a:spcBef>
                <a:spcPts val="0"/>
              </a:spcBef>
              <a:spcAft>
                <a:spcPts val="0"/>
              </a:spcAft>
              <a:defRPr sz="1050" b="0">
                <a:solidFill>
                  <a:srgbClr val="BFCFE1"/>
                </a:solidFill>
                <a:latin typeface="Aptos"/>
              </a:defRPr>
            </a:pPr>
            <a:r>
              <a:t>Largest gap: ages 40–44  •  47.92 pp</a:t>
            </a:r>
          </a:p>
        </p:txBody>
      </p:sp>
      <p:sp>
        <p:nvSpPr>
          <p:cNvPr id="19" name="Rounded Rectangle 18"/>
          <p:cNvSpPr/>
          <p:nvPr/>
        </p:nvSpPr>
        <p:spPr>
          <a:xfrm>
            <a:off x="658368" y="5093208"/>
            <a:ext cx="6583680" cy="731520"/>
          </a:xfrm>
          <a:prstGeom prst="roundRect">
            <a:avLst>
              <a:gd name="adj" fmla="val 13000"/>
            </a:avLst>
          </a:prstGeom>
          <a:solidFill>
            <a:srgbClr val="172641"/>
          </a:solidFill>
          <a:ln w="10160">
            <a:solidFill>
              <a:srgbClr val="3247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5239512"/>
            <a:ext cx="59436" cy="429768"/>
          </a:xfrm>
          <a:prstGeom prst="rect">
            <a:avLst/>
          </a:prstGeom>
          <a:solidFill>
            <a:srgbClr val="317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5212080"/>
            <a:ext cx="429768" cy="256032"/>
          </a:xfrm>
          <a:prstGeom prst="rect">
            <a:avLst/>
          </a:prstGeom>
          <a:noFill/>
        </p:spPr>
        <p:txBody>
          <a:bodyPr wrap="square" lIns="0" rIns="0" tIns="0" bIns="0" anchor="ctr">
            <a:spAutoFit/>
          </a:bodyPr>
          <a:lstStyle/>
          <a:p>
            <a:pPr>
              <a:spcBef>
                <a:spcPts val="0"/>
              </a:spcBef>
              <a:spcAft>
                <a:spcPts val="0"/>
              </a:spcAft>
              <a:defRPr sz="1100" b="1">
                <a:solidFill>
                  <a:srgbClr val="3174AD"/>
                </a:solidFill>
                <a:latin typeface="Aptos"/>
              </a:defRPr>
            </a:pPr>
            <a:r>
              <a:t>03</a:t>
            </a:r>
          </a:p>
        </p:txBody>
      </p:sp>
      <p:sp>
        <p:nvSpPr>
          <p:cNvPr id="22" name="TextBox 21"/>
          <p:cNvSpPr txBox="1"/>
          <p:nvPr/>
        </p:nvSpPr>
        <p:spPr>
          <a:xfrm>
            <a:off x="1527048" y="5166360"/>
            <a:ext cx="5504688" cy="274320"/>
          </a:xfrm>
          <a:prstGeom prst="rect">
            <a:avLst/>
          </a:prstGeom>
          <a:noFill/>
        </p:spPr>
        <p:txBody>
          <a:bodyPr wrap="square" lIns="0" rIns="0" tIns="0" bIns="0" anchor="ctr">
            <a:spAutoFit/>
          </a:bodyPr>
          <a:lstStyle/>
          <a:p>
            <a:pPr>
              <a:spcBef>
                <a:spcPts val="0"/>
              </a:spcBef>
              <a:spcAft>
                <a:spcPts val="0"/>
              </a:spcAft>
              <a:defRPr sz="1500" b="1">
                <a:solidFill>
                  <a:srgbClr val="FFFFFF"/>
                </a:solidFill>
                <a:latin typeface="Aptos"/>
              </a:defRPr>
            </a:pPr>
            <a:r>
              <a:t>The results are reproducible</a:t>
            </a:r>
          </a:p>
        </p:txBody>
      </p:sp>
      <p:sp>
        <p:nvSpPr>
          <p:cNvPr id="23" name="TextBox 22"/>
          <p:cNvSpPr txBox="1"/>
          <p:nvPr/>
        </p:nvSpPr>
        <p:spPr>
          <a:xfrm>
            <a:off x="1527048" y="5486400"/>
            <a:ext cx="5468112" cy="210312"/>
          </a:xfrm>
          <a:prstGeom prst="rect">
            <a:avLst/>
          </a:prstGeom>
          <a:noFill/>
        </p:spPr>
        <p:txBody>
          <a:bodyPr wrap="square" lIns="0" rIns="0" tIns="0" bIns="0" anchor="ctr">
            <a:spAutoFit/>
          </a:bodyPr>
          <a:lstStyle/>
          <a:p>
            <a:pPr>
              <a:spcBef>
                <a:spcPts val="0"/>
              </a:spcBef>
              <a:spcAft>
                <a:spcPts val="0"/>
              </a:spcAft>
              <a:defRPr sz="1050" b="0">
                <a:solidFill>
                  <a:srgbClr val="BFCFE1"/>
                </a:solidFill>
                <a:latin typeface="Aptos"/>
              </a:defRPr>
            </a:pPr>
            <a:r>
              <a:t>R and Python agree for all 22 age-sex rates</a:t>
            </a:r>
          </a:p>
        </p:txBody>
      </p:sp>
      <p:sp>
        <p:nvSpPr>
          <p:cNvPr id="24" name="Rounded Rectangle 23"/>
          <p:cNvSpPr/>
          <p:nvPr/>
        </p:nvSpPr>
        <p:spPr>
          <a:xfrm>
            <a:off x="7616952" y="1536192"/>
            <a:ext cx="3941063" cy="4297680"/>
          </a:xfrm>
          <a:prstGeom prst="roundRect">
            <a:avLst>
              <a:gd name="adj" fmla="val 15000"/>
            </a:avLst>
          </a:prstGeom>
          <a:solidFill>
            <a:srgbClr val="192B47"/>
          </a:solidFill>
          <a:ln w="12700">
            <a:solidFill>
              <a:srgbClr val="344B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73568" y="1929384"/>
            <a:ext cx="3291840" cy="265176"/>
          </a:xfrm>
          <a:prstGeom prst="rect">
            <a:avLst/>
          </a:prstGeom>
          <a:noFill/>
        </p:spPr>
        <p:txBody>
          <a:bodyPr wrap="square" lIns="0" rIns="0" tIns="0" bIns="0" anchor="ctr">
            <a:spAutoFit/>
          </a:bodyPr>
          <a:lstStyle/>
          <a:p>
            <a:pPr>
              <a:spcBef>
                <a:spcPts val="0"/>
              </a:spcBef>
              <a:spcAft>
                <a:spcPts val="0"/>
              </a:spcAft>
              <a:defRPr sz="1200" b="1">
                <a:solidFill>
                  <a:srgbClr val="83E0CE"/>
                </a:solidFill>
                <a:latin typeface="Aptos"/>
              </a:defRPr>
            </a:pPr>
            <a:r>
              <a:t>THE BIG PICTURE</a:t>
            </a:r>
          </a:p>
        </p:txBody>
      </p:sp>
      <p:sp>
        <p:nvSpPr>
          <p:cNvPr id="26" name="TextBox 25"/>
          <p:cNvSpPr txBox="1"/>
          <p:nvPr/>
        </p:nvSpPr>
        <p:spPr>
          <a:xfrm>
            <a:off x="7955279" y="2459736"/>
            <a:ext cx="3218688" cy="1298448"/>
          </a:xfrm>
          <a:prstGeom prst="rect">
            <a:avLst/>
          </a:prstGeom>
          <a:noFill/>
        </p:spPr>
        <p:txBody>
          <a:bodyPr wrap="square" lIns="0" rIns="0" tIns="0" bIns="0" anchor="ctr">
            <a:spAutoFit/>
          </a:bodyPr>
          <a:lstStyle/>
          <a:p>
            <a:pPr>
              <a:spcBef>
                <a:spcPts val="0"/>
              </a:spcBef>
              <a:spcAft>
                <a:spcPts val="0"/>
              </a:spcAft>
              <a:defRPr sz="4300" b="1">
                <a:solidFill>
                  <a:srgbClr val="FFFFFF"/>
                </a:solidFill>
                <a:latin typeface="Aptos"/>
              </a:defRPr>
            </a:pPr>
            <a:r>
              <a:t>47.92 pp</a:t>
            </a:r>
          </a:p>
        </p:txBody>
      </p:sp>
      <p:sp>
        <p:nvSpPr>
          <p:cNvPr id="27" name="TextBox 26"/>
          <p:cNvSpPr txBox="1"/>
          <p:nvPr/>
        </p:nvSpPr>
        <p:spPr>
          <a:xfrm>
            <a:off x="7982712" y="3657600"/>
            <a:ext cx="2990088" cy="640080"/>
          </a:xfrm>
          <a:prstGeom prst="rect">
            <a:avLst/>
          </a:prstGeom>
          <a:noFill/>
        </p:spPr>
        <p:txBody>
          <a:bodyPr wrap="square" lIns="0" rIns="0" tIns="0" bIns="0" anchor="t">
            <a:spAutoFit/>
          </a:bodyPr>
          <a:lstStyle/>
          <a:p>
            <a:pPr>
              <a:spcBef>
                <a:spcPts val="0"/>
              </a:spcBef>
              <a:spcAft>
                <a:spcPts val="0"/>
              </a:spcAft>
              <a:defRPr sz="1400" b="0">
                <a:solidFill>
                  <a:srgbClr val="C6D7EA"/>
                </a:solidFill>
                <a:latin typeface="Aptos"/>
              </a:defRPr>
            </a:pPr>
            <a:r>
              <a:t>Largest male–female literacy difference at ages 40–44.</a:t>
            </a:r>
          </a:p>
        </p:txBody>
      </p:sp>
      <p:sp>
        <p:nvSpPr>
          <p:cNvPr id="28" name="Rectangle 27"/>
          <p:cNvSpPr/>
          <p:nvPr/>
        </p:nvSpPr>
        <p:spPr>
          <a:xfrm>
            <a:off x="7991856" y="4791456"/>
            <a:ext cx="3017520" cy="29260"/>
          </a:xfrm>
          <a:prstGeom prst="rect">
            <a:avLst/>
          </a:prstGeom>
          <a:solidFill>
            <a:srgbClr val="355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82712" y="5020056"/>
            <a:ext cx="3136392" cy="448056"/>
          </a:xfrm>
          <a:prstGeom prst="rect">
            <a:avLst/>
          </a:prstGeom>
          <a:noFill/>
        </p:spPr>
        <p:txBody>
          <a:bodyPr wrap="square" lIns="0" rIns="0" tIns="0" bIns="0" anchor="ctr">
            <a:spAutoFit/>
          </a:bodyPr>
          <a:lstStyle/>
          <a:p>
            <a:pPr>
              <a:spcBef>
                <a:spcPts val="0"/>
              </a:spcBef>
              <a:spcAft>
                <a:spcPts val="0"/>
              </a:spcAft>
              <a:defRPr sz="1600" b="1">
                <a:solidFill>
                  <a:srgbClr val="83E0CE"/>
                </a:solidFill>
                <a:latin typeface="Aptos"/>
              </a:defRPr>
            </a:pPr>
            <a:r>
              <a:t>Your questions are welcome.</a:t>
            </a:r>
          </a:p>
        </p:txBody>
      </p:sp>
      <p:sp>
        <p:nvSpPr>
          <p:cNvPr id="30" name="Rectangle 29"/>
          <p:cNvSpPr/>
          <p:nvPr/>
        </p:nvSpPr>
        <p:spPr>
          <a:xfrm>
            <a:off x="0" y="6236208"/>
            <a:ext cx="12191695" cy="621792"/>
          </a:xfrm>
          <a:prstGeom prst="rect">
            <a:avLst/>
          </a:prstGeom>
          <a:solidFill>
            <a:srgbClr val="1FB3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6400800"/>
            <a:ext cx="10890504" cy="219456"/>
          </a:xfrm>
          <a:prstGeom prst="rect">
            <a:avLst/>
          </a:prstGeom>
          <a:noFill/>
        </p:spPr>
        <p:txBody>
          <a:bodyPr wrap="square" lIns="0" rIns="0" tIns="0" bIns="0" anchor="ctr">
            <a:spAutoFit/>
          </a:bodyPr>
          <a:lstStyle/>
          <a:p>
            <a:pPr>
              <a:spcBef>
                <a:spcPts val="0"/>
              </a:spcBef>
              <a:spcAft>
                <a:spcPts val="0"/>
              </a:spcAft>
              <a:defRPr sz="1060" b="1">
                <a:solidFill>
                  <a:srgbClr val="111B31"/>
                </a:solidFill>
                <a:latin typeface="Aptos"/>
              </a:defRPr>
            </a:pPr>
            <a:r>
              <a:t>ZAINAB ASHRAF     •     FA24-BED-078     •     VARIANT 06 / BALOCHISTAN RURAL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