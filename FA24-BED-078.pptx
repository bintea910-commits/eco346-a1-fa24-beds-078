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91440" cy="502920"/>
          </a:xfrm>
          <a:prstGeom prst="rect">
            <a:avLst/>
          </a:prstGeom>
          <a:solidFill>
            <a:srgbClr val="1C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931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CCCB9"/>
                </a:solidFill>
                <a:latin typeface="Aptos"/>
              </a:defRPr>
            </a:pPr>
            <a:r>
              <a:t>EVIDENCE-LED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Education spending &amp; literacy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37376"/>
            <a:ext cx="10698480" cy="10972"/>
          </a:xfrm>
          <a:prstGeom prst="rect">
            <a:avLst/>
          </a:prstGeom>
          <a:solidFill>
            <a:srgbClr val="344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9BBCD"/>
                </a:solidFill>
                <a:latin typeface="Aptos"/>
              </a:defRPr>
            </a:pPr>
            <a:r>
              <a:t>ECO346  •  ASSIGNMENT 1  •  FA24-BED-078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CCCB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86537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A9BBCD"/>
                </a:solidFill>
                <a:latin typeface="Aptos"/>
              </a:defRPr>
            </a:pPr>
            <a:r>
              <a:t>PSLM household and person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2743200"/>
            <a:ext cx="7132320" cy="2240280"/>
          </a:xfrm>
          <a:prstGeom prst="roundRect">
            <a:avLst/>
          </a:prstGeom>
          <a:solidFill>
            <a:srgbClr val="15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540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CCCB9"/>
                </a:solidFill>
                <a:latin typeface="Aptos"/>
              </a:defRPr>
            </a:pPr>
            <a:r>
              <a:t>VARIANT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47872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BALOCHISTAN  |  RURAL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297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9BBCD"/>
                </a:solidFill>
                <a:latin typeface="Aptos"/>
              </a:defRPr>
            </a:pPr>
            <a:r>
              <a:t>Weighted analysis • R + 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2240280"/>
            <a:ext cx="2377440" cy="2377440"/>
          </a:xfrm>
          <a:prstGeom prst="roundRect">
            <a:avLst/>
          </a:prstGeom>
          <a:solidFill>
            <a:srgbClr val="1C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51392" y="276148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800" b="1">
                <a:solidFill>
                  <a:srgbClr val="0C183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07492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PRESENTED BY  •  ZAINAB ASHRAF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59552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6DECF"/>
                </a:solidFill>
                <a:latin typeface="Aptos"/>
              </a:rPr>
              <a:t>REGISTRATION NO.  •  FA24-BED-078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91440" cy="502920"/>
          </a:xfrm>
          <a:prstGeom prst="rect">
            <a:avLst/>
          </a:prstGeom>
          <a:solidFill>
            <a:srgbClr val="1C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931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CCCB9"/>
                </a:solidFill>
                <a:latin typeface="Aptos"/>
              </a:defRPr>
            </a:pPr>
            <a: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Education spending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37376"/>
            <a:ext cx="10698480" cy="10972"/>
          </a:xfrm>
          <a:prstGeom prst="rect">
            <a:avLst/>
          </a:prstGeom>
          <a:solidFill>
            <a:srgbClr val="344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9BBCD"/>
                </a:solidFill>
                <a:latin typeface="Aptos"/>
              </a:defRPr>
            </a:pPr>
            <a:r>
              <a:t>ECO346  •  ASSIGNMENT 1  •  FA24-BED-078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CCCB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00784"/>
            <a:ext cx="66294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5_crop_1.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901952"/>
            <a:ext cx="6245352" cy="3840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99248" y="1719072"/>
            <a:ext cx="3749039" cy="4206240"/>
          </a:xfrm>
          <a:prstGeom prst="roundRect">
            <a:avLst/>
          </a:prstGeom>
          <a:solidFill>
            <a:srgbClr val="15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084831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What the chart examines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83464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A9BBCD"/>
                </a:solidFill>
                <a:latin typeface="Aptos"/>
              </a:defRPr>
            </a:pPr>
            <a:r>
              <a:t>Annual education spending among students with positive spending.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CCCB9"/>
                </a:solidFill>
                <a:latin typeface="Aptos"/>
              </a:defRPr>
            </a:pPr>
            <a:r>
              <a:t>Check before submission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517136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Use weighted density, rupee tick labels and weighted median / P90 annotations.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91440" cy="502920"/>
          </a:xfrm>
          <a:prstGeom prst="rect">
            <a:avLst/>
          </a:prstGeom>
          <a:solidFill>
            <a:srgbClr val="1C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931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CCCB9"/>
                </a:solidFill>
                <a:latin typeface="Aptos"/>
              </a:defRPr>
            </a:pPr>
            <a:r>
              <a:t>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Literacy changes across age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37376"/>
            <a:ext cx="10698480" cy="10972"/>
          </a:xfrm>
          <a:prstGeom prst="rect">
            <a:avLst/>
          </a:prstGeom>
          <a:solidFill>
            <a:srgbClr val="344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9BBCD"/>
                </a:solidFill>
                <a:latin typeface="Aptos"/>
              </a:defRPr>
            </a:pPr>
            <a:r>
              <a:t>ECO346  •  ASSIGNMENT 1  •  FA24-BED-078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CCCB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09928"/>
            <a:ext cx="745236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8_crop_1.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901952"/>
            <a:ext cx="7068312" cy="3931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76488" y="1709928"/>
            <a:ext cx="3017520" cy="4343400"/>
          </a:xfrm>
          <a:prstGeom prst="roundRect">
            <a:avLst/>
          </a:prstGeom>
          <a:solidFill>
            <a:srgbClr val="15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0808" y="2084831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CCCB9"/>
                </a:solidFill>
                <a:latin typeface="Aptos"/>
              </a:defRPr>
            </a:pPr>
            <a:r>
              <a:t>KEY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2651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Literacy generally declines in older age groups.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0808" y="425196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9BBCD"/>
                </a:solidFill>
                <a:latin typeface="Aptos"/>
              </a:defRPr>
            </a:pPr>
            <a:r>
              <a:t>The plotted female and male series show a persistent gender difference.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91440" cy="502920"/>
          </a:xfrm>
          <a:prstGeom prst="rect">
            <a:avLst/>
          </a:prstGeom>
          <a:solidFill>
            <a:srgbClr val="1C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931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CCCB9"/>
                </a:solidFill>
                <a:latin typeface="Aptos"/>
              </a:defRPr>
            </a:pPr>
            <a:r>
              <a:t>QUESTIONS 4 &amp;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From default chart to reproducible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37376"/>
            <a:ext cx="10698480" cy="10972"/>
          </a:xfrm>
          <a:prstGeom prst="rect">
            <a:avLst/>
          </a:prstGeom>
          <a:solidFill>
            <a:srgbClr val="344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9BBCD"/>
                </a:solidFill>
                <a:latin typeface="Aptos"/>
              </a:defRPr>
            </a:pPr>
            <a:r>
              <a:t>ECO346  •  ASSIGNMENT 1  •  FA24-BED-078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CCCB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737360"/>
            <a:ext cx="5074920" cy="4270248"/>
          </a:xfrm>
          <a:prstGeom prst="roundRect">
            <a:avLst/>
          </a:prstGeom>
          <a:solidFill>
            <a:srgbClr val="15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0253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CCCB9"/>
                </a:solidFill>
                <a:latin typeface="Aptos"/>
              </a:defRPr>
            </a:pPr>
            <a:r>
              <a:t>Q4  •  VISUAL REDESIGN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389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Default: basic scatterplot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46120"/>
            <a:ext cx="4389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A9BBCD"/>
                </a:solidFill>
                <a:latin typeface="Aptos"/>
              </a:defRPr>
            </a:pPr>
            <a:r>
              <a:t>Redesign: labeled women/men trends, age bands and emphasis on the largest literacy gap.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B962"/>
                </a:solidFill>
                <a:latin typeface="Aptos"/>
              </a:defRPr>
            </a:pPr>
            <a:r>
              <a:t>Keep default.svg committed before the redesigned SVG.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737360"/>
            <a:ext cx="5376672" cy="4270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9_crop_6.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938528"/>
            <a:ext cx="4974336" cy="3200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45936" y="528523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C1830"/>
                </a:solidFill>
                <a:latin typeface="Aptos"/>
              </a:defRPr>
            </a:pPr>
            <a:r>
              <a:t>Q5  •  Python cross-check of age-band literacy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91440" cy="502920"/>
          </a:xfrm>
          <a:prstGeom prst="rect">
            <a:avLst/>
          </a:prstGeom>
          <a:solidFill>
            <a:srgbClr val="1C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931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CCCB9"/>
                </a:solidFill>
                <a:latin typeface="Aptos"/>
              </a:defRPr>
            </a:pPr>
            <a:r>
              <a:t>PRESENTATION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37376"/>
            <a:ext cx="10698480" cy="10972"/>
          </a:xfrm>
          <a:prstGeom prst="rect">
            <a:avLst/>
          </a:prstGeom>
          <a:solidFill>
            <a:srgbClr val="344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1967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9BBCD"/>
                </a:solidFill>
                <a:latin typeface="Aptos"/>
              </a:defRPr>
            </a:pPr>
            <a:r>
              <a:t>ECO346  •  ASSIGNMENT 1  •  FA24-BED-078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CCCB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139696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0">
                <a:solidFill>
                  <a:srgbClr val="A9BBCD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337560"/>
            <a:ext cx="10607040" cy="1572768"/>
          </a:xfrm>
          <a:prstGeom prst="roundRect">
            <a:avLst/>
          </a:prstGeom>
          <a:solidFill>
            <a:srgbClr val="15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803904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Balochistan Rural  •  Education spending  •  Literacy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15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CCCB9"/>
                </a:solidFill>
                <a:latin typeface="Aptos"/>
              </a:defRPr>
            </a:pPr>
            <a:r>
              <a:t>FA24-BED-078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